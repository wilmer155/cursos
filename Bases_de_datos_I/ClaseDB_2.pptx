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57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6"/>
    <p:sldId id="293" r:id="rId37"/>
    <p:sldId id="295" r:id="rId38"/>
    <p:sldId id="296" r:id="rId39"/>
    <p:sldId id="297" r:id="rId40"/>
    <p:sldId id="298" r:id="rId41"/>
    <p:sldId id="299" r:id="rId42"/>
    <p:sldId id="300" r:id="rId43"/>
    <p:sldId id="264" r:id="rId44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428CD-1BB2-4A03-8594-A68FE992CDE1}" v="149" dt="2023-09-08T00:59:33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4-02-20T19:23:07.088" v="704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 ord">
        <pc:chgData name="Wilmer Ortega Erazo" userId="19082e28a51afb61" providerId="LiveId" clId="{30D428CD-1BB2-4A03-8594-A68FE992CDE1}" dt="2024-02-20T19:23:07.088" v="704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3959F0-472B-4DD3-A3A4-E3A419F0870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62E2D383-ECF5-4413-AAC0-2B27B9ECFFD7}">
      <dgm:prSet phldrT="[Texto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4290" tIns="34290" rIns="34290" bIns="34290" numCol="1" spcCol="1270" anchor="ctr" anchorCtr="0"/>
        <a:lstStyle/>
        <a:p>
          <a:r>
            <a:rPr lang="es-CO" sz="5400" kern="1200" noProof="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Parte</a:t>
          </a:r>
          <a:r>
            <a:rPr lang="es-CO" sz="5400" kern="1200" noProof="0" dirty="0">
              <a:latin typeface="Arial" panose="020B0604020202020204" pitchFamily="34" charset="0"/>
              <a:cs typeface="Arial" panose="020B0604020202020204" pitchFamily="34" charset="0"/>
            </a:rPr>
            <a:t> estática (DDL)</a:t>
          </a:r>
        </a:p>
      </dgm:t>
    </dgm:pt>
    <dgm:pt modelId="{EFE5447E-4FCA-4F9E-9D22-3ED8BC10CE6D}" type="parTrans" cxnId="{41504EDE-C30E-4571-AA06-E842B772EFEC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29B785-D294-4CF2-91BC-3612F609C60D}" type="sibTrans" cxnId="{41504EDE-C30E-4571-AA06-E842B772EFEC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BDBA3C-6CB8-47EE-9273-72007C223B97}">
      <dgm:prSet phldrT="[Texto]"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4605" tIns="14605" rIns="14605" bIns="14605" numCol="1" spcCol="1270" anchor="ctr" anchorCtr="0"/>
        <a:lstStyle/>
        <a:p>
          <a:pPr marL="0"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Entidades</a:t>
          </a:r>
        </a:p>
      </dgm:t>
    </dgm:pt>
    <dgm:pt modelId="{2983044C-13C3-4EF6-80C8-6EE2BD05A4E9}" type="parTrans" cxnId="{1B52767C-F7F3-430F-AD79-12B7177EE2D3}">
      <dgm:prSet/>
      <dgm:spPr>
        <a:ln>
          <a:solidFill>
            <a:schemeClr val="bg1"/>
          </a:solidFill>
        </a:ln>
      </dgm:spPr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D906E8-EF49-44CA-AECC-E823DECAA409}" type="sibTrans" cxnId="{1B52767C-F7F3-430F-AD79-12B7177EE2D3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EA2630-82B9-4815-B2DC-B4D24151B42E}">
      <dgm:prSet phldrT="[Texto]"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4605" tIns="14605" rIns="14605" bIns="14605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Atributos</a:t>
          </a:r>
        </a:p>
      </dgm:t>
    </dgm:pt>
    <dgm:pt modelId="{E9B0F711-A8D0-4B8C-9A56-879C7C73FD9F}" type="parTrans" cxnId="{4B5CA703-1AAC-40CA-953B-52236D5312AD}">
      <dgm:prSet/>
      <dgm:spPr>
        <a:ln>
          <a:solidFill>
            <a:schemeClr val="bg1"/>
          </a:solidFill>
        </a:ln>
      </dgm:spPr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8461CB-C64E-4361-A893-775C991EDF15}" type="sibTrans" cxnId="{4B5CA703-1AAC-40CA-953B-52236D5312AD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1916A4-2740-47B9-A4CB-CA0580863938}">
      <dgm:prSet phldrT="[Texto]"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4605" tIns="14605" rIns="14605" bIns="14605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Dominios</a:t>
          </a:r>
        </a:p>
      </dgm:t>
    </dgm:pt>
    <dgm:pt modelId="{55B23B1A-56FD-49BF-9D2A-6832F2305471}" type="parTrans" cxnId="{E40738EE-4FBD-4BC7-8B53-739F67D73785}">
      <dgm:prSet/>
      <dgm:spPr>
        <a:ln>
          <a:solidFill>
            <a:schemeClr val="bg1"/>
          </a:solidFill>
        </a:ln>
      </dgm:spPr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2EF762-E609-4CF6-8848-A7850756A5E4}" type="sibTrans" cxnId="{E40738EE-4FBD-4BC7-8B53-739F67D73785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F55FC2-7A58-4248-A9B5-CAB6AE0B571C}">
      <dgm:prSet phldrT="[Texto]" custT="1"/>
      <dgm:spPr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4605" tIns="14605" rIns="14605" bIns="14605" numCol="1" spcCol="1270" anchor="ctr" anchorCtr="0"/>
        <a:lstStyle/>
        <a:p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Interrelaciones</a:t>
          </a:r>
        </a:p>
      </dgm:t>
    </dgm:pt>
    <dgm:pt modelId="{41A7835F-EECB-412C-8DD3-180FC0C64B67}" type="parTrans" cxnId="{D9EAD1EA-41A7-4548-8C1B-671C18CF81AD}">
      <dgm:prSet/>
      <dgm:spPr>
        <a:ln>
          <a:solidFill>
            <a:schemeClr val="bg1"/>
          </a:solidFill>
        </a:ln>
      </dgm:spPr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CA6309-7872-4611-9C73-857D1474A3C7}" type="sibTrans" cxnId="{D9EAD1EA-41A7-4548-8C1B-671C18CF81AD}">
      <dgm:prSet/>
      <dgm:spPr/>
      <dgm:t>
        <a:bodyPr/>
        <a:lstStyle/>
        <a:p>
          <a:endParaRPr lang="es-CO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4EC53A-4276-46B1-8ABE-C20B6899A72E}" type="pres">
      <dgm:prSet presAssocID="{1A3959F0-472B-4DD3-A3A4-E3A419F0870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4CED7A4-8A3C-408D-BF8D-45070DC59882}" type="pres">
      <dgm:prSet presAssocID="{62E2D383-ECF5-4413-AAC0-2B27B9ECFFD7}" presName="root1" presStyleCnt="0"/>
      <dgm:spPr/>
    </dgm:pt>
    <dgm:pt modelId="{11457F0A-D49D-44F7-8B43-53B8EBFB36F4}" type="pres">
      <dgm:prSet presAssocID="{62E2D383-ECF5-4413-AAC0-2B27B9ECFFD7}" presName="LevelOneTextNode" presStyleLbl="node0" presStyleIdx="0" presStyleCnt="1" custAng="5400000" custScaleX="434340" custScaleY="90436" custLinFactNeighborX="41822" custLinFactNeighborY="-1442">
        <dgm:presLayoutVars>
          <dgm:chPref val="3"/>
        </dgm:presLayoutVars>
      </dgm:prSet>
      <dgm:spPr>
        <a:xfrm>
          <a:off x="723809" y="278605"/>
          <a:ext cx="3407851" cy="3109730"/>
        </a:xfrm>
        <a:prstGeom prst="rect">
          <a:avLst/>
        </a:prstGeom>
      </dgm:spPr>
    </dgm:pt>
    <dgm:pt modelId="{B36BEFD8-6332-4A69-998B-566231399555}" type="pres">
      <dgm:prSet presAssocID="{62E2D383-ECF5-4413-AAC0-2B27B9ECFFD7}" presName="level2hierChild" presStyleCnt="0"/>
      <dgm:spPr/>
    </dgm:pt>
    <dgm:pt modelId="{5B804CA9-925D-4B0F-A3C0-FAF1727B35C3}" type="pres">
      <dgm:prSet presAssocID="{2983044C-13C3-4EF6-80C8-6EE2BD05A4E9}" presName="conn2-1" presStyleLbl="parChTrans1D2" presStyleIdx="0" presStyleCnt="4"/>
      <dgm:spPr/>
    </dgm:pt>
    <dgm:pt modelId="{2BF2766D-6B0F-4830-B3AA-5501E51DC0CB}" type="pres">
      <dgm:prSet presAssocID="{2983044C-13C3-4EF6-80C8-6EE2BD05A4E9}" presName="connTx" presStyleLbl="parChTrans1D2" presStyleIdx="0" presStyleCnt="4"/>
      <dgm:spPr/>
    </dgm:pt>
    <dgm:pt modelId="{CE7EC29A-CD1B-4814-8841-A508A19343E7}" type="pres">
      <dgm:prSet presAssocID="{D8BDBA3C-6CB8-47EE-9273-72007C223B97}" presName="root2" presStyleCnt="0"/>
      <dgm:spPr/>
    </dgm:pt>
    <dgm:pt modelId="{A87CD8CE-ABDF-4CE4-9126-5BB6DEEA19BB}" type="pres">
      <dgm:prSet presAssocID="{D8BDBA3C-6CB8-47EE-9273-72007C223B97}" presName="LevelTwoTextNode" presStyleLbl="node2" presStyleIdx="0" presStyleCnt="4" custScaleX="128761" custLinFactNeighborX="1735" custLinFactNeighborY="12742">
        <dgm:presLayoutVars>
          <dgm:chPref val="3"/>
        </dgm:presLayoutVars>
      </dgm:prSet>
      <dgm:spPr>
        <a:xfrm>
          <a:off x="4193586" y="278608"/>
          <a:ext cx="3023786" cy="715966"/>
        </a:xfrm>
        <a:prstGeom prst="rect">
          <a:avLst/>
        </a:prstGeom>
      </dgm:spPr>
    </dgm:pt>
    <dgm:pt modelId="{15CB9504-9B71-4C0A-B7A3-D7579026F813}" type="pres">
      <dgm:prSet presAssocID="{D8BDBA3C-6CB8-47EE-9273-72007C223B97}" presName="level3hierChild" presStyleCnt="0"/>
      <dgm:spPr/>
    </dgm:pt>
    <dgm:pt modelId="{D304EBB4-F48B-42C0-8C34-F09532F6DBFE}" type="pres">
      <dgm:prSet presAssocID="{E9B0F711-A8D0-4B8C-9A56-879C7C73FD9F}" presName="conn2-1" presStyleLbl="parChTrans1D2" presStyleIdx="1" presStyleCnt="4"/>
      <dgm:spPr/>
    </dgm:pt>
    <dgm:pt modelId="{A5AC1A7A-B7CE-472A-A656-1859940AF490}" type="pres">
      <dgm:prSet presAssocID="{E9B0F711-A8D0-4B8C-9A56-879C7C73FD9F}" presName="connTx" presStyleLbl="parChTrans1D2" presStyleIdx="1" presStyleCnt="4"/>
      <dgm:spPr/>
    </dgm:pt>
    <dgm:pt modelId="{6931C3D6-2CA1-4550-9D30-4F190C60E244}" type="pres">
      <dgm:prSet presAssocID="{05EA2630-82B9-4815-B2DC-B4D24151B42E}" presName="root2" presStyleCnt="0"/>
      <dgm:spPr/>
    </dgm:pt>
    <dgm:pt modelId="{7E6D5899-87BE-4686-9CFD-283BB9579DDE}" type="pres">
      <dgm:prSet presAssocID="{05EA2630-82B9-4815-B2DC-B4D24151B42E}" presName="LevelTwoTextNode" presStyleLbl="node2" presStyleIdx="1" presStyleCnt="4" custScaleX="128952" custScaleY="100001" custLinFactNeighborX="1735" custLinFactNeighborY="-1626">
        <dgm:presLayoutVars>
          <dgm:chPref val="3"/>
        </dgm:presLayoutVars>
      </dgm:prSet>
      <dgm:spPr>
        <a:xfrm>
          <a:off x="4193586" y="1070697"/>
          <a:ext cx="3028271" cy="715973"/>
        </a:xfrm>
        <a:prstGeom prst="rect">
          <a:avLst/>
        </a:prstGeom>
      </dgm:spPr>
    </dgm:pt>
    <dgm:pt modelId="{F6BD6146-4F3D-4BDA-8ACC-BFFCA378EB1F}" type="pres">
      <dgm:prSet presAssocID="{05EA2630-82B9-4815-B2DC-B4D24151B42E}" presName="level3hierChild" presStyleCnt="0"/>
      <dgm:spPr/>
    </dgm:pt>
    <dgm:pt modelId="{BCF13C5D-7314-48E0-A586-5F3EE2F9BC6B}" type="pres">
      <dgm:prSet presAssocID="{55B23B1A-56FD-49BF-9D2A-6832F2305471}" presName="conn2-1" presStyleLbl="parChTrans1D2" presStyleIdx="2" presStyleCnt="4"/>
      <dgm:spPr/>
    </dgm:pt>
    <dgm:pt modelId="{B41B9DBD-FBF3-4CC1-9495-17AE3963785C}" type="pres">
      <dgm:prSet presAssocID="{55B23B1A-56FD-49BF-9D2A-6832F2305471}" presName="connTx" presStyleLbl="parChTrans1D2" presStyleIdx="2" presStyleCnt="4"/>
      <dgm:spPr/>
    </dgm:pt>
    <dgm:pt modelId="{EAE9880D-7F2D-4E48-B4E0-79ADBD30DBAE}" type="pres">
      <dgm:prSet presAssocID="{671916A4-2740-47B9-A4CB-CA0580863938}" presName="root2" presStyleCnt="0"/>
      <dgm:spPr/>
    </dgm:pt>
    <dgm:pt modelId="{5522B659-66B3-4248-8BE7-A7B831F59C68}" type="pres">
      <dgm:prSet presAssocID="{671916A4-2740-47B9-A4CB-CA0580863938}" presName="LevelTwoTextNode" presStyleLbl="node2" presStyleIdx="2" presStyleCnt="4" custScaleX="129712" custLinFactNeighborX="1735" custLinFactNeighborY="-15995">
        <dgm:presLayoutVars>
          <dgm:chPref val="3"/>
        </dgm:presLayoutVars>
      </dgm:prSet>
      <dgm:spPr>
        <a:xfrm>
          <a:off x="4193586" y="1862785"/>
          <a:ext cx="3046119" cy="715966"/>
        </a:xfrm>
        <a:prstGeom prst="rect">
          <a:avLst/>
        </a:prstGeom>
      </dgm:spPr>
    </dgm:pt>
    <dgm:pt modelId="{AD3935EF-685A-49B7-AC24-C490C9E336C0}" type="pres">
      <dgm:prSet presAssocID="{671916A4-2740-47B9-A4CB-CA0580863938}" presName="level3hierChild" presStyleCnt="0"/>
      <dgm:spPr/>
    </dgm:pt>
    <dgm:pt modelId="{922B1D58-2AA4-4D3D-9C6A-4C3DB6C544A5}" type="pres">
      <dgm:prSet presAssocID="{41A7835F-EECB-412C-8DD3-180FC0C64B67}" presName="conn2-1" presStyleLbl="parChTrans1D2" presStyleIdx="3" presStyleCnt="4"/>
      <dgm:spPr/>
    </dgm:pt>
    <dgm:pt modelId="{1623C273-0E56-45F9-9275-3E70C122E70A}" type="pres">
      <dgm:prSet presAssocID="{41A7835F-EECB-412C-8DD3-180FC0C64B67}" presName="connTx" presStyleLbl="parChTrans1D2" presStyleIdx="3" presStyleCnt="4"/>
      <dgm:spPr/>
    </dgm:pt>
    <dgm:pt modelId="{412DF884-4D0F-40D8-89A0-70B095523F6C}" type="pres">
      <dgm:prSet presAssocID="{BEF55FC2-7A58-4248-A9B5-CAB6AE0B571C}" presName="root2" presStyleCnt="0"/>
      <dgm:spPr/>
    </dgm:pt>
    <dgm:pt modelId="{244042B1-6EC7-4D4F-AC60-7176CDC7252A}" type="pres">
      <dgm:prSet presAssocID="{BEF55FC2-7A58-4248-A9B5-CAB6AE0B571C}" presName="LevelTwoTextNode" presStyleLbl="node2" presStyleIdx="3" presStyleCnt="4" custScaleX="129712" custScaleY="100001" custLinFactNeighborX="1735" custLinFactNeighborY="-30363">
        <dgm:presLayoutVars>
          <dgm:chPref val="3"/>
        </dgm:presLayoutVars>
      </dgm:prSet>
      <dgm:spPr>
        <a:xfrm>
          <a:off x="4193586" y="2654873"/>
          <a:ext cx="3046119" cy="715973"/>
        </a:xfrm>
        <a:prstGeom prst="rect">
          <a:avLst/>
        </a:prstGeom>
      </dgm:spPr>
    </dgm:pt>
    <dgm:pt modelId="{85D4B13C-2EFF-4DC1-AA2E-769A915A991C}" type="pres">
      <dgm:prSet presAssocID="{BEF55FC2-7A58-4248-A9B5-CAB6AE0B571C}" presName="level3hierChild" presStyleCnt="0"/>
      <dgm:spPr/>
    </dgm:pt>
  </dgm:ptLst>
  <dgm:cxnLst>
    <dgm:cxn modelId="{4B5CA703-1AAC-40CA-953B-52236D5312AD}" srcId="{62E2D383-ECF5-4413-AAC0-2B27B9ECFFD7}" destId="{05EA2630-82B9-4815-B2DC-B4D24151B42E}" srcOrd="1" destOrd="0" parTransId="{E9B0F711-A8D0-4B8C-9A56-879C7C73FD9F}" sibTransId="{A58461CB-C64E-4361-A893-775C991EDF15}"/>
    <dgm:cxn modelId="{DDE32312-EB51-453D-B1B8-A7630960F3FB}" type="presOf" srcId="{2983044C-13C3-4EF6-80C8-6EE2BD05A4E9}" destId="{2BF2766D-6B0F-4830-B3AA-5501E51DC0CB}" srcOrd="1" destOrd="0" presId="urn:microsoft.com/office/officeart/2008/layout/HorizontalMultiLevelHierarchy"/>
    <dgm:cxn modelId="{3EE69812-8BE4-41A5-8703-92EBE262A02C}" type="presOf" srcId="{1A3959F0-472B-4DD3-A3A4-E3A419F08706}" destId="{1D4EC53A-4276-46B1-8ABE-C20B6899A72E}" srcOrd="0" destOrd="0" presId="urn:microsoft.com/office/officeart/2008/layout/HorizontalMultiLevelHierarchy"/>
    <dgm:cxn modelId="{549EBB14-6953-4F19-A732-F69DEA783AA0}" type="presOf" srcId="{41A7835F-EECB-412C-8DD3-180FC0C64B67}" destId="{1623C273-0E56-45F9-9275-3E70C122E70A}" srcOrd="1" destOrd="0" presId="urn:microsoft.com/office/officeart/2008/layout/HorizontalMultiLevelHierarchy"/>
    <dgm:cxn modelId="{7FE7742A-19F6-4025-B15B-EF2B4EF2A5E0}" type="presOf" srcId="{D8BDBA3C-6CB8-47EE-9273-72007C223B97}" destId="{A87CD8CE-ABDF-4CE4-9126-5BB6DEEA19BB}" srcOrd="0" destOrd="0" presId="urn:microsoft.com/office/officeart/2008/layout/HorizontalMultiLevelHierarchy"/>
    <dgm:cxn modelId="{1BC4C05D-B234-4B0E-8E34-97083B5BF5BA}" type="presOf" srcId="{62E2D383-ECF5-4413-AAC0-2B27B9ECFFD7}" destId="{11457F0A-D49D-44F7-8B43-53B8EBFB36F4}" srcOrd="0" destOrd="0" presId="urn:microsoft.com/office/officeart/2008/layout/HorizontalMultiLevelHierarchy"/>
    <dgm:cxn modelId="{5187A045-F5CB-4BE6-9F87-C182F01BB9B2}" type="presOf" srcId="{41A7835F-EECB-412C-8DD3-180FC0C64B67}" destId="{922B1D58-2AA4-4D3D-9C6A-4C3DB6C544A5}" srcOrd="0" destOrd="0" presId="urn:microsoft.com/office/officeart/2008/layout/HorizontalMultiLevelHierarchy"/>
    <dgm:cxn modelId="{4B9A8A4B-F8E5-415F-B602-C4FC98B431FA}" type="presOf" srcId="{2983044C-13C3-4EF6-80C8-6EE2BD05A4E9}" destId="{5B804CA9-925D-4B0F-A3C0-FAF1727B35C3}" srcOrd="0" destOrd="0" presId="urn:microsoft.com/office/officeart/2008/layout/HorizontalMultiLevelHierarchy"/>
    <dgm:cxn modelId="{1B52767C-F7F3-430F-AD79-12B7177EE2D3}" srcId="{62E2D383-ECF5-4413-AAC0-2B27B9ECFFD7}" destId="{D8BDBA3C-6CB8-47EE-9273-72007C223B97}" srcOrd="0" destOrd="0" parTransId="{2983044C-13C3-4EF6-80C8-6EE2BD05A4E9}" sibTransId="{95D906E8-EF49-44CA-AECC-E823DECAA409}"/>
    <dgm:cxn modelId="{AD4E6C7D-BF63-43DE-A5D2-EADD20071A76}" type="presOf" srcId="{05EA2630-82B9-4815-B2DC-B4D24151B42E}" destId="{7E6D5899-87BE-4686-9CFD-283BB9579DDE}" srcOrd="0" destOrd="0" presId="urn:microsoft.com/office/officeart/2008/layout/HorizontalMultiLevelHierarchy"/>
    <dgm:cxn modelId="{DE722B85-EF89-41AF-A223-9B0BECEC4C2C}" type="presOf" srcId="{55B23B1A-56FD-49BF-9D2A-6832F2305471}" destId="{B41B9DBD-FBF3-4CC1-9495-17AE3963785C}" srcOrd="1" destOrd="0" presId="urn:microsoft.com/office/officeart/2008/layout/HorizontalMultiLevelHierarchy"/>
    <dgm:cxn modelId="{568AEE86-85AA-4D0A-86E1-D323801985D2}" type="presOf" srcId="{BEF55FC2-7A58-4248-A9B5-CAB6AE0B571C}" destId="{244042B1-6EC7-4D4F-AC60-7176CDC7252A}" srcOrd="0" destOrd="0" presId="urn:microsoft.com/office/officeart/2008/layout/HorizontalMultiLevelHierarchy"/>
    <dgm:cxn modelId="{712BFF9C-792A-49DA-9FB7-0BFEA8EE5633}" type="presOf" srcId="{E9B0F711-A8D0-4B8C-9A56-879C7C73FD9F}" destId="{D304EBB4-F48B-42C0-8C34-F09532F6DBFE}" srcOrd="0" destOrd="0" presId="urn:microsoft.com/office/officeart/2008/layout/HorizontalMultiLevelHierarchy"/>
    <dgm:cxn modelId="{2A5DB9A5-20D2-4DA8-B5A6-CB647856A168}" type="presOf" srcId="{671916A4-2740-47B9-A4CB-CA0580863938}" destId="{5522B659-66B3-4248-8BE7-A7B831F59C68}" srcOrd="0" destOrd="0" presId="urn:microsoft.com/office/officeart/2008/layout/HorizontalMultiLevelHierarchy"/>
    <dgm:cxn modelId="{2FFA5EA9-24A2-4115-972D-BD63A682D2F6}" type="presOf" srcId="{55B23B1A-56FD-49BF-9D2A-6832F2305471}" destId="{BCF13C5D-7314-48E0-A586-5F3EE2F9BC6B}" srcOrd="0" destOrd="0" presId="urn:microsoft.com/office/officeart/2008/layout/HorizontalMultiLevelHierarchy"/>
    <dgm:cxn modelId="{5ECAECC1-F7E1-4DD2-A930-6D45E4D58223}" type="presOf" srcId="{E9B0F711-A8D0-4B8C-9A56-879C7C73FD9F}" destId="{A5AC1A7A-B7CE-472A-A656-1859940AF490}" srcOrd="1" destOrd="0" presId="urn:microsoft.com/office/officeart/2008/layout/HorizontalMultiLevelHierarchy"/>
    <dgm:cxn modelId="{41504EDE-C30E-4571-AA06-E842B772EFEC}" srcId="{1A3959F0-472B-4DD3-A3A4-E3A419F08706}" destId="{62E2D383-ECF5-4413-AAC0-2B27B9ECFFD7}" srcOrd="0" destOrd="0" parTransId="{EFE5447E-4FCA-4F9E-9D22-3ED8BC10CE6D}" sibTransId="{5029B785-D294-4CF2-91BC-3612F609C60D}"/>
    <dgm:cxn modelId="{D9EAD1EA-41A7-4548-8C1B-671C18CF81AD}" srcId="{62E2D383-ECF5-4413-AAC0-2B27B9ECFFD7}" destId="{BEF55FC2-7A58-4248-A9B5-CAB6AE0B571C}" srcOrd="3" destOrd="0" parTransId="{41A7835F-EECB-412C-8DD3-180FC0C64B67}" sibTransId="{49CA6309-7872-4611-9C73-857D1474A3C7}"/>
    <dgm:cxn modelId="{E40738EE-4FBD-4BC7-8B53-739F67D73785}" srcId="{62E2D383-ECF5-4413-AAC0-2B27B9ECFFD7}" destId="{671916A4-2740-47B9-A4CB-CA0580863938}" srcOrd="2" destOrd="0" parTransId="{55B23B1A-56FD-49BF-9D2A-6832F2305471}" sibTransId="{4F2EF762-E609-4CF6-8848-A7850756A5E4}"/>
    <dgm:cxn modelId="{5FA62F61-5079-44AC-A4E1-22C56752A554}" type="presParOf" srcId="{1D4EC53A-4276-46B1-8ABE-C20B6899A72E}" destId="{74CED7A4-8A3C-408D-BF8D-45070DC59882}" srcOrd="0" destOrd="0" presId="urn:microsoft.com/office/officeart/2008/layout/HorizontalMultiLevelHierarchy"/>
    <dgm:cxn modelId="{2FA7EDC6-1B76-470F-AB82-9DDC66BC3EC1}" type="presParOf" srcId="{74CED7A4-8A3C-408D-BF8D-45070DC59882}" destId="{11457F0A-D49D-44F7-8B43-53B8EBFB36F4}" srcOrd="0" destOrd="0" presId="urn:microsoft.com/office/officeart/2008/layout/HorizontalMultiLevelHierarchy"/>
    <dgm:cxn modelId="{E4530EC8-B2F2-43AA-A4E2-301D50BE868A}" type="presParOf" srcId="{74CED7A4-8A3C-408D-BF8D-45070DC59882}" destId="{B36BEFD8-6332-4A69-998B-566231399555}" srcOrd="1" destOrd="0" presId="urn:microsoft.com/office/officeart/2008/layout/HorizontalMultiLevelHierarchy"/>
    <dgm:cxn modelId="{20EE23A7-3B23-4B1C-BCA5-CA20B159BB73}" type="presParOf" srcId="{B36BEFD8-6332-4A69-998B-566231399555}" destId="{5B804CA9-925D-4B0F-A3C0-FAF1727B35C3}" srcOrd="0" destOrd="0" presId="urn:microsoft.com/office/officeart/2008/layout/HorizontalMultiLevelHierarchy"/>
    <dgm:cxn modelId="{B5FE061C-F728-4CE7-9C84-89482EBC6054}" type="presParOf" srcId="{5B804CA9-925D-4B0F-A3C0-FAF1727B35C3}" destId="{2BF2766D-6B0F-4830-B3AA-5501E51DC0CB}" srcOrd="0" destOrd="0" presId="urn:microsoft.com/office/officeart/2008/layout/HorizontalMultiLevelHierarchy"/>
    <dgm:cxn modelId="{E3591A8F-09EA-4251-B3E1-60B3A0657027}" type="presParOf" srcId="{B36BEFD8-6332-4A69-998B-566231399555}" destId="{CE7EC29A-CD1B-4814-8841-A508A19343E7}" srcOrd="1" destOrd="0" presId="urn:microsoft.com/office/officeart/2008/layout/HorizontalMultiLevelHierarchy"/>
    <dgm:cxn modelId="{A788E34E-7841-487E-A079-7D3E47586DA4}" type="presParOf" srcId="{CE7EC29A-CD1B-4814-8841-A508A19343E7}" destId="{A87CD8CE-ABDF-4CE4-9126-5BB6DEEA19BB}" srcOrd="0" destOrd="0" presId="urn:microsoft.com/office/officeart/2008/layout/HorizontalMultiLevelHierarchy"/>
    <dgm:cxn modelId="{D13B1D51-6BF2-4BCA-AB08-D642FDCC36D7}" type="presParOf" srcId="{CE7EC29A-CD1B-4814-8841-A508A19343E7}" destId="{15CB9504-9B71-4C0A-B7A3-D7579026F813}" srcOrd="1" destOrd="0" presId="urn:microsoft.com/office/officeart/2008/layout/HorizontalMultiLevelHierarchy"/>
    <dgm:cxn modelId="{88696CD5-49A8-4376-8EC9-F100F769E953}" type="presParOf" srcId="{B36BEFD8-6332-4A69-998B-566231399555}" destId="{D304EBB4-F48B-42C0-8C34-F09532F6DBFE}" srcOrd="2" destOrd="0" presId="urn:microsoft.com/office/officeart/2008/layout/HorizontalMultiLevelHierarchy"/>
    <dgm:cxn modelId="{7CCC32CE-493B-46BF-B9BD-A73D356A1FF3}" type="presParOf" srcId="{D304EBB4-F48B-42C0-8C34-F09532F6DBFE}" destId="{A5AC1A7A-B7CE-472A-A656-1859940AF490}" srcOrd="0" destOrd="0" presId="urn:microsoft.com/office/officeart/2008/layout/HorizontalMultiLevelHierarchy"/>
    <dgm:cxn modelId="{9A01EB22-226E-4C64-B6B5-0463C85BA462}" type="presParOf" srcId="{B36BEFD8-6332-4A69-998B-566231399555}" destId="{6931C3D6-2CA1-4550-9D30-4F190C60E244}" srcOrd="3" destOrd="0" presId="urn:microsoft.com/office/officeart/2008/layout/HorizontalMultiLevelHierarchy"/>
    <dgm:cxn modelId="{BC2E8818-6D2C-4ADA-BC19-CFCFCB343D57}" type="presParOf" srcId="{6931C3D6-2CA1-4550-9D30-4F190C60E244}" destId="{7E6D5899-87BE-4686-9CFD-283BB9579DDE}" srcOrd="0" destOrd="0" presId="urn:microsoft.com/office/officeart/2008/layout/HorizontalMultiLevelHierarchy"/>
    <dgm:cxn modelId="{BCBA1EB7-E28A-487F-80DC-4D9A148260DD}" type="presParOf" srcId="{6931C3D6-2CA1-4550-9D30-4F190C60E244}" destId="{F6BD6146-4F3D-4BDA-8ACC-BFFCA378EB1F}" srcOrd="1" destOrd="0" presId="urn:microsoft.com/office/officeart/2008/layout/HorizontalMultiLevelHierarchy"/>
    <dgm:cxn modelId="{693BBB9D-9539-4855-9CB4-783637FB8721}" type="presParOf" srcId="{B36BEFD8-6332-4A69-998B-566231399555}" destId="{BCF13C5D-7314-48E0-A586-5F3EE2F9BC6B}" srcOrd="4" destOrd="0" presId="urn:microsoft.com/office/officeart/2008/layout/HorizontalMultiLevelHierarchy"/>
    <dgm:cxn modelId="{D941FD2B-1118-4533-9A3F-C664C1654EC8}" type="presParOf" srcId="{BCF13C5D-7314-48E0-A586-5F3EE2F9BC6B}" destId="{B41B9DBD-FBF3-4CC1-9495-17AE3963785C}" srcOrd="0" destOrd="0" presId="urn:microsoft.com/office/officeart/2008/layout/HorizontalMultiLevelHierarchy"/>
    <dgm:cxn modelId="{C23580C9-544D-45B8-8294-13F99970616E}" type="presParOf" srcId="{B36BEFD8-6332-4A69-998B-566231399555}" destId="{EAE9880D-7F2D-4E48-B4E0-79ADBD30DBAE}" srcOrd="5" destOrd="0" presId="urn:microsoft.com/office/officeart/2008/layout/HorizontalMultiLevelHierarchy"/>
    <dgm:cxn modelId="{19542A50-CD13-4F44-8983-87AD170B2BEC}" type="presParOf" srcId="{EAE9880D-7F2D-4E48-B4E0-79ADBD30DBAE}" destId="{5522B659-66B3-4248-8BE7-A7B831F59C68}" srcOrd="0" destOrd="0" presId="urn:microsoft.com/office/officeart/2008/layout/HorizontalMultiLevelHierarchy"/>
    <dgm:cxn modelId="{E09257D8-5A5D-410B-8641-9D26BE74C4CA}" type="presParOf" srcId="{EAE9880D-7F2D-4E48-B4E0-79ADBD30DBAE}" destId="{AD3935EF-685A-49B7-AC24-C490C9E336C0}" srcOrd="1" destOrd="0" presId="urn:microsoft.com/office/officeart/2008/layout/HorizontalMultiLevelHierarchy"/>
    <dgm:cxn modelId="{6AB62AF3-7A1D-4DB5-8175-D2FBA83623DC}" type="presParOf" srcId="{B36BEFD8-6332-4A69-998B-566231399555}" destId="{922B1D58-2AA4-4D3D-9C6A-4C3DB6C544A5}" srcOrd="6" destOrd="0" presId="urn:microsoft.com/office/officeart/2008/layout/HorizontalMultiLevelHierarchy"/>
    <dgm:cxn modelId="{07574421-ECE2-49A7-9120-D88F32CACEE0}" type="presParOf" srcId="{922B1D58-2AA4-4D3D-9C6A-4C3DB6C544A5}" destId="{1623C273-0E56-45F9-9275-3E70C122E70A}" srcOrd="0" destOrd="0" presId="urn:microsoft.com/office/officeart/2008/layout/HorizontalMultiLevelHierarchy"/>
    <dgm:cxn modelId="{87FA1460-9EF0-4B79-9804-DDAE20BD7DEA}" type="presParOf" srcId="{B36BEFD8-6332-4A69-998B-566231399555}" destId="{412DF884-4D0F-40D8-89A0-70B095523F6C}" srcOrd="7" destOrd="0" presId="urn:microsoft.com/office/officeart/2008/layout/HorizontalMultiLevelHierarchy"/>
    <dgm:cxn modelId="{41E31E29-9CF9-4574-B34A-FC18A67AFDF8}" type="presParOf" srcId="{412DF884-4D0F-40D8-89A0-70B095523F6C}" destId="{244042B1-6EC7-4D4F-AC60-7176CDC7252A}" srcOrd="0" destOrd="0" presId="urn:microsoft.com/office/officeart/2008/layout/HorizontalMultiLevelHierarchy"/>
    <dgm:cxn modelId="{40C12C4C-C6C7-486D-A74D-10EA4AE8E365}" type="presParOf" srcId="{412DF884-4D0F-40D8-89A0-70B095523F6C}" destId="{85D4B13C-2EFF-4DC1-AA2E-769A915A991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959F0-472B-4DD3-A3A4-E3A419F0870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62E2D383-ECF5-4413-AAC0-2B27B9ECFFD7}">
      <dgm:prSet phldrT="[Texto]" custT="1"/>
      <dgm:spPr/>
      <dgm:t>
        <a:bodyPr/>
        <a:lstStyle/>
        <a:p>
          <a:r>
            <a:rPr lang="es-CO" sz="5400" noProof="0" dirty="0"/>
            <a:t>Parte dinámica (DML)</a:t>
          </a:r>
        </a:p>
      </dgm:t>
    </dgm:pt>
    <dgm:pt modelId="{EFE5447E-4FCA-4F9E-9D22-3ED8BC10CE6D}" type="parTrans" cxnId="{41504EDE-C30E-4571-AA06-E842B772EFEC}">
      <dgm:prSet/>
      <dgm:spPr/>
      <dgm:t>
        <a:bodyPr/>
        <a:lstStyle/>
        <a:p>
          <a:endParaRPr lang="es-CO" noProof="0" dirty="0"/>
        </a:p>
      </dgm:t>
    </dgm:pt>
    <dgm:pt modelId="{5029B785-D294-4CF2-91BC-3612F609C60D}" type="sibTrans" cxnId="{41504EDE-C30E-4571-AA06-E842B772EFEC}">
      <dgm:prSet/>
      <dgm:spPr/>
      <dgm:t>
        <a:bodyPr/>
        <a:lstStyle/>
        <a:p>
          <a:endParaRPr lang="es-CO" noProof="0" dirty="0"/>
        </a:p>
      </dgm:t>
    </dgm:pt>
    <dgm:pt modelId="{D8BDBA3C-6CB8-47EE-9273-72007C223B97}">
      <dgm:prSet phldrT="[Texto]" custT="1"/>
      <dgm:spPr/>
      <dgm:t>
        <a:bodyPr/>
        <a:lstStyle/>
        <a:p>
          <a:r>
            <a:rPr lang="es-CO" sz="2300" b="1" u="sng" noProof="0" dirty="0"/>
            <a:t>Selección</a:t>
          </a:r>
          <a:r>
            <a:rPr lang="es-CO" sz="2300" noProof="0" dirty="0"/>
            <a:t> de entidades, </a:t>
          </a:r>
        </a:p>
        <a:p>
          <a:r>
            <a:rPr lang="es-CO" sz="2300" noProof="0" dirty="0"/>
            <a:t>atributos, interrelaciones</a:t>
          </a:r>
        </a:p>
      </dgm:t>
    </dgm:pt>
    <dgm:pt modelId="{2983044C-13C3-4EF6-80C8-6EE2BD05A4E9}" type="parTrans" cxnId="{1B52767C-F7F3-430F-AD79-12B7177EE2D3}">
      <dgm:prSet/>
      <dgm:spPr/>
      <dgm:t>
        <a:bodyPr/>
        <a:lstStyle/>
        <a:p>
          <a:endParaRPr lang="es-CO" noProof="0" dirty="0"/>
        </a:p>
      </dgm:t>
    </dgm:pt>
    <dgm:pt modelId="{95D906E8-EF49-44CA-AECC-E823DECAA409}" type="sibTrans" cxnId="{1B52767C-F7F3-430F-AD79-12B7177EE2D3}">
      <dgm:prSet/>
      <dgm:spPr/>
      <dgm:t>
        <a:bodyPr/>
        <a:lstStyle/>
        <a:p>
          <a:endParaRPr lang="es-CO" noProof="0" dirty="0"/>
        </a:p>
      </dgm:t>
    </dgm:pt>
    <dgm:pt modelId="{05EA2630-82B9-4815-B2DC-B4D24151B42E}">
      <dgm:prSet phldrT="[Texto]"/>
      <dgm:spPr/>
      <dgm:t>
        <a:bodyPr/>
        <a:lstStyle/>
        <a:p>
          <a:r>
            <a:rPr lang="es-CO" b="1" u="sng" noProof="0" dirty="0"/>
            <a:t>Acción</a:t>
          </a:r>
          <a:r>
            <a:rPr lang="es-CO" noProof="0" dirty="0"/>
            <a:t> aplicada a entidades, Atributos, interrelaciones que sirve para actualizar datos</a:t>
          </a:r>
        </a:p>
      </dgm:t>
    </dgm:pt>
    <dgm:pt modelId="{E9B0F711-A8D0-4B8C-9A56-879C7C73FD9F}" type="parTrans" cxnId="{4B5CA703-1AAC-40CA-953B-52236D5312AD}">
      <dgm:prSet/>
      <dgm:spPr/>
      <dgm:t>
        <a:bodyPr/>
        <a:lstStyle/>
        <a:p>
          <a:endParaRPr lang="es-CO" noProof="0" dirty="0"/>
        </a:p>
      </dgm:t>
    </dgm:pt>
    <dgm:pt modelId="{A58461CB-C64E-4361-A893-775C991EDF15}" type="sibTrans" cxnId="{4B5CA703-1AAC-40CA-953B-52236D5312AD}">
      <dgm:prSet/>
      <dgm:spPr/>
      <dgm:t>
        <a:bodyPr/>
        <a:lstStyle/>
        <a:p>
          <a:endParaRPr lang="es-CO" noProof="0" dirty="0"/>
        </a:p>
      </dgm:t>
    </dgm:pt>
    <dgm:pt modelId="{1D4EC53A-4276-46B1-8ABE-C20B6899A72E}" type="pres">
      <dgm:prSet presAssocID="{1A3959F0-472B-4DD3-A3A4-E3A419F0870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4CED7A4-8A3C-408D-BF8D-45070DC59882}" type="pres">
      <dgm:prSet presAssocID="{62E2D383-ECF5-4413-AAC0-2B27B9ECFFD7}" presName="root1" presStyleCnt="0"/>
      <dgm:spPr/>
    </dgm:pt>
    <dgm:pt modelId="{11457F0A-D49D-44F7-8B43-53B8EBFB36F4}" type="pres">
      <dgm:prSet presAssocID="{62E2D383-ECF5-4413-AAC0-2B27B9ECFFD7}" presName="LevelOneTextNode" presStyleLbl="node0" presStyleIdx="0" presStyleCnt="1" custAng="5400000" custScaleX="410486" custScaleY="94849" custLinFactNeighborX="-2169" custLinFactNeighborY="-1547">
        <dgm:presLayoutVars>
          <dgm:chPref val="3"/>
        </dgm:presLayoutVars>
      </dgm:prSet>
      <dgm:spPr/>
    </dgm:pt>
    <dgm:pt modelId="{B36BEFD8-6332-4A69-998B-566231399555}" type="pres">
      <dgm:prSet presAssocID="{62E2D383-ECF5-4413-AAC0-2B27B9ECFFD7}" presName="level2hierChild" presStyleCnt="0"/>
      <dgm:spPr/>
    </dgm:pt>
    <dgm:pt modelId="{5B804CA9-925D-4B0F-A3C0-FAF1727B35C3}" type="pres">
      <dgm:prSet presAssocID="{2983044C-13C3-4EF6-80C8-6EE2BD05A4E9}" presName="conn2-1" presStyleLbl="parChTrans1D2" presStyleIdx="0" presStyleCnt="2"/>
      <dgm:spPr/>
    </dgm:pt>
    <dgm:pt modelId="{2BF2766D-6B0F-4830-B3AA-5501E51DC0CB}" type="pres">
      <dgm:prSet presAssocID="{2983044C-13C3-4EF6-80C8-6EE2BD05A4E9}" presName="connTx" presStyleLbl="parChTrans1D2" presStyleIdx="0" presStyleCnt="2"/>
      <dgm:spPr/>
    </dgm:pt>
    <dgm:pt modelId="{CE7EC29A-CD1B-4814-8841-A508A19343E7}" type="pres">
      <dgm:prSet presAssocID="{D8BDBA3C-6CB8-47EE-9273-72007C223B97}" presName="root2" presStyleCnt="0"/>
      <dgm:spPr/>
    </dgm:pt>
    <dgm:pt modelId="{A87CD8CE-ABDF-4CE4-9126-5BB6DEEA19BB}" type="pres">
      <dgm:prSet presAssocID="{D8BDBA3C-6CB8-47EE-9273-72007C223B97}" presName="LevelTwoTextNode" presStyleLbl="node2" presStyleIdx="0" presStyleCnt="2" custScaleX="168712" custScaleY="207424" custLinFactNeighborX="-6019" custLinFactNeighborY="1912">
        <dgm:presLayoutVars>
          <dgm:chPref val="3"/>
        </dgm:presLayoutVars>
      </dgm:prSet>
      <dgm:spPr/>
    </dgm:pt>
    <dgm:pt modelId="{15CB9504-9B71-4C0A-B7A3-D7579026F813}" type="pres">
      <dgm:prSet presAssocID="{D8BDBA3C-6CB8-47EE-9273-72007C223B97}" presName="level3hierChild" presStyleCnt="0"/>
      <dgm:spPr/>
    </dgm:pt>
    <dgm:pt modelId="{D304EBB4-F48B-42C0-8C34-F09532F6DBFE}" type="pres">
      <dgm:prSet presAssocID="{E9B0F711-A8D0-4B8C-9A56-879C7C73FD9F}" presName="conn2-1" presStyleLbl="parChTrans1D2" presStyleIdx="1" presStyleCnt="2"/>
      <dgm:spPr/>
    </dgm:pt>
    <dgm:pt modelId="{A5AC1A7A-B7CE-472A-A656-1859940AF490}" type="pres">
      <dgm:prSet presAssocID="{E9B0F711-A8D0-4B8C-9A56-879C7C73FD9F}" presName="connTx" presStyleLbl="parChTrans1D2" presStyleIdx="1" presStyleCnt="2"/>
      <dgm:spPr/>
    </dgm:pt>
    <dgm:pt modelId="{6931C3D6-2CA1-4550-9D30-4F190C60E244}" type="pres">
      <dgm:prSet presAssocID="{05EA2630-82B9-4815-B2DC-B4D24151B42E}" presName="root2" presStyleCnt="0"/>
      <dgm:spPr/>
    </dgm:pt>
    <dgm:pt modelId="{7E6D5899-87BE-4686-9CFD-283BB9579DDE}" type="pres">
      <dgm:prSet presAssocID="{05EA2630-82B9-4815-B2DC-B4D24151B42E}" presName="LevelTwoTextNode" presStyleLbl="node2" presStyleIdx="1" presStyleCnt="2" custScaleX="168839" custScaleY="198172" custLinFactNeighborX="-6022" custLinFactNeighborY="-19305">
        <dgm:presLayoutVars>
          <dgm:chPref val="3"/>
        </dgm:presLayoutVars>
      </dgm:prSet>
      <dgm:spPr/>
    </dgm:pt>
    <dgm:pt modelId="{F6BD6146-4F3D-4BDA-8ACC-BFFCA378EB1F}" type="pres">
      <dgm:prSet presAssocID="{05EA2630-82B9-4815-B2DC-B4D24151B42E}" presName="level3hierChild" presStyleCnt="0"/>
      <dgm:spPr/>
    </dgm:pt>
  </dgm:ptLst>
  <dgm:cxnLst>
    <dgm:cxn modelId="{4B5CA703-1AAC-40CA-953B-52236D5312AD}" srcId="{62E2D383-ECF5-4413-AAC0-2B27B9ECFFD7}" destId="{05EA2630-82B9-4815-B2DC-B4D24151B42E}" srcOrd="1" destOrd="0" parTransId="{E9B0F711-A8D0-4B8C-9A56-879C7C73FD9F}" sibTransId="{A58461CB-C64E-4361-A893-775C991EDF15}"/>
    <dgm:cxn modelId="{0DC7E962-8844-4F3D-9E21-11963E84FFC6}" type="presOf" srcId="{1A3959F0-472B-4DD3-A3A4-E3A419F08706}" destId="{1D4EC53A-4276-46B1-8ABE-C20B6899A72E}" srcOrd="0" destOrd="0" presId="urn:microsoft.com/office/officeart/2008/layout/HorizontalMultiLevelHierarchy"/>
    <dgm:cxn modelId="{62F2644D-85F9-40E0-8851-DD1A9BC34843}" type="presOf" srcId="{E9B0F711-A8D0-4B8C-9A56-879C7C73FD9F}" destId="{A5AC1A7A-B7CE-472A-A656-1859940AF490}" srcOrd="1" destOrd="0" presId="urn:microsoft.com/office/officeart/2008/layout/HorizontalMultiLevelHierarchy"/>
    <dgm:cxn modelId="{1B52767C-F7F3-430F-AD79-12B7177EE2D3}" srcId="{62E2D383-ECF5-4413-AAC0-2B27B9ECFFD7}" destId="{D8BDBA3C-6CB8-47EE-9273-72007C223B97}" srcOrd="0" destOrd="0" parTransId="{2983044C-13C3-4EF6-80C8-6EE2BD05A4E9}" sibTransId="{95D906E8-EF49-44CA-AECC-E823DECAA409}"/>
    <dgm:cxn modelId="{AA8A5C89-4629-44F0-84BF-3C9780E6F8E8}" type="presOf" srcId="{05EA2630-82B9-4815-B2DC-B4D24151B42E}" destId="{7E6D5899-87BE-4686-9CFD-283BB9579DDE}" srcOrd="0" destOrd="0" presId="urn:microsoft.com/office/officeart/2008/layout/HorizontalMultiLevelHierarchy"/>
    <dgm:cxn modelId="{2F9064B1-4612-4B99-8BFE-2A994AD157DB}" type="presOf" srcId="{E9B0F711-A8D0-4B8C-9A56-879C7C73FD9F}" destId="{D304EBB4-F48B-42C0-8C34-F09532F6DBFE}" srcOrd="0" destOrd="0" presId="urn:microsoft.com/office/officeart/2008/layout/HorizontalMultiLevelHierarchy"/>
    <dgm:cxn modelId="{26A171B8-537F-47FE-9676-FD3B5F5BE19A}" type="presOf" srcId="{62E2D383-ECF5-4413-AAC0-2B27B9ECFFD7}" destId="{11457F0A-D49D-44F7-8B43-53B8EBFB36F4}" srcOrd="0" destOrd="0" presId="urn:microsoft.com/office/officeart/2008/layout/HorizontalMultiLevelHierarchy"/>
    <dgm:cxn modelId="{41504EDE-C30E-4571-AA06-E842B772EFEC}" srcId="{1A3959F0-472B-4DD3-A3A4-E3A419F08706}" destId="{62E2D383-ECF5-4413-AAC0-2B27B9ECFFD7}" srcOrd="0" destOrd="0" parTransId="{EFE5447E-4FCA-4F9E-9D22-3ED8BC10CE6D}" sibTransId="{5029B785-D294-4CF2-91BC-3612F609C60D}"/>
    <dgm:cxn modelId="{6468B1F1-0E23-4B2C-A8D8-45B81DEFA48E}" type="presOf" srcId="{2983044C-13C3-4EF6-80C8-6EE2BD05A4E9}" destId="{2BF2766D-6B0F-4830-B3AA-5501E51DC0CB}" srcOrd="1" destOrd="0" presId="urn:microsoft.com/office/officeart/2008/layout/HorizontalMultiLevelHierarchy"/>
    <dgm:cxn modelId="{25C489F8-6135-4F42-AE8E-46004F1A9D68}" type="presOf" srcId="{D8BDBA3C-6CB8-47EE-9273-72007C223B97}" destId="{A87CD8CE-ABDF-4CE4-9126-5BB6DEEA19BB}" srcOrd="0" destOrd="0" presId="urn:microsoft.com/office/officeart/2008/layout/HorizontalMultiLevelHierarchy"/>
    <dgm:cxn modelId="{E30F55FE-8C2B-4EC1-A513-572C10CFB2F7}" type="presOf" srcId="{2983044C-13C3-4EF6-80C8-6EE2BD05A4E9}" destId="{5B804CA9-925D-4B0F-A3C0-FAF1727B35C3}" srcOrd="0" destOrd="0" presId="urn:microsoft.com/office/officeart/2008/layout/HorizontalMultiLevelHierarchy"/>
    <dgm:cxn modelId="{32BA6FC7-A5C0-4B34-BE4C-563BC33F79D1}" type="presParOf" srcId="{1D4EC53A-4276-46B1-8ABE-C20B6899A72E}" destId="{74CED7A4-8A3C-408D-BF8D-45070DC59882}" srcOrd="0" destOrd="0" presId="urn:microsoft.com/office/officeart/2008/layout/HorizontalMultiLevelHierarchy"/>
    <dgm:cxn modelId="{756FF760-463E-4BE6-9812-F0C05D79E2A8}" type="presParOf" srcId="{74CED7A4-8A3C-408D-BF8D-45070DC59882}" destId="{11457F0A-D49D-44F7-8B43-53B8EBFB36F4}" srcOrd="0" destOrd="0" presId="urn:microsoft.com/office/officeart/2008/layout/HorizontalMultiLevelHierarchy"/>
    <dgm:cxn modelId="{EEE4BE10-2896-4A94-813F-EF52FE6134D7}" type="presParOf" srcId="{74CED7A4-8A3C-408D-BF8D-45070DC59882}" destId="{B36BEFD8-6332-4A69-998B-566231399555}" srcOrd="1" destOrd="0" presId="urn:microsoft.com/office/officeart/2008/layout/HorizontalMultiLevelHierarchy"/>
    <dgm:cxn modelId="{37F129E4-5CB4-4314-939C-55F95DCD4AE2}" type="presParOf" srcId="{B36BEFD8-6332-4A69-998B-566231399555}" destId="{5B804CA9-925D-4B0F-A3C0-FAF1727B35C3}" srcOrd="0" destOrd="0" presId="urn:microsoft.com/office/officeart/2008/layout/HorizontalMultiLevelHierarchy"/>
    <dgm:cxn modelId="{5913481E-42BF-4F67-8A11-88E5C6C9D6F1}" type="presParOf" srcId="{5B804CA9-925D-4B0F-A3C0-FAF1727B35C3}" destId="{2BF2766D-6B0F-4830-B3AA-5501E51DC0CB}" srcOrd="0" destOrd="0" presId="urn:microsoft.com/office/officeart/2008/layout/HorizontalMultiLevelHierarchy"/>
    <dgm:cxn modelId="{D1EE20AC-F54C-49F3-A159-B430C9BE88E6}" type="presParOf" srcId="{B36BEFD8-6332-4A69-998B-566231399555}" destId="{CE7EC29A-CD1B-4814-8841-A508A19343E7}" srcOrd="1" destOrd="0" presId="urn:microsoft.com/office/officeart/2008/layout/HorizontalMultiLevelHierarchy"/>
    <dgm:cxn modelId="{88546288-41BB-4350-8D08-4F195814B7C9}" type="presParOf" srcId="{CE7EC29A-CD1B-4814-8841-A508A19343E7}" destId="{A87CD8CE-ABDF-4CE4-9126-5BB6DEEA19BB}" srcOrd="0" destOrd="0" presId="urn:microsoft.com/office/officeart/2008/layout/HorizontalMultiLevelHierarchy"/>
    <dgm:cxn modelId="{1670A096-4EA0-4E2F-89D4-2E0D171E7B2B}" type="presParOf" srcId="{CE7EC29A-CD1B-4814-8841-A508A19343E7}" destId="{15CB9504-9B71-4C0A-B7A3-D7579026F813}" srcOrd="1" destOrd="0" presId="urn:microsoft.com/office/officeart/2008/layout/HorizontalMultiLevelHierarchy"/>
    <dgm:cxn modelId="{6AB910FE-7845-40FA-B797-7DA0CB028FFC}" type="presParOf" srcId="{B36BEFD8-6332-4A69-998B-566231399555}" destId="{D304EBB4-F48B-42C0-8C34-F09532F6DBFE}" srcOrd="2" destOrd="0" presId="urn:microsoft.com/office/officeart/2008/layout/HorizontalMultiLevelHierarchy"/>
    <dgm:cxn modelId="{6728F77E-079B-4A16-88D4-387EBAB98926}" type="presParOf" srcId="{D304EBB4-F48B-42C0-8C34-F09532F6DBFE}" destId="{A5AC1A7A-B7CE-472A-A656-1859940AF490}" srcOrd="0" destOrd="0" presId="urn:microsoft.com/office/officeart/2008/layout/HorizontalMultiLevelHierarchy"/>
    <dgm:cxn modelId="{3A46B0A8-FBB3-4411-82BD-86752C5F4AB8}" type="presParOf" srcId="{B36BEFD8-6332-4A69-998B-566231399555}" destId="{6931C3D6-2CA1-4550-9D30-4F190C60E244}" srcOrd="3" destOrd="0" presId="urn:microsoft.com/office/officeart/2008/layout/HorizontalMultiLevelHierarchy"/>
    <dgm:cxn modelId="{FC60953B-9F45-43C8-BFBF-05F17634EE0C}" type="presParOf" srcId="{6931C3D6-2CA1-4550-9D30-4F190C60E244}" destId="{7E6D5899-87BE-4686-9CFD-283BB9579DDE}" srcOrd="0" destOrd="0" presId="urn:microsoft.com/office/officeart/2008/layout/HorizontalMultiLevelHierarchy"/>
    <dgm:cxn modelId="{93F803CC-7A28-4718-A79E-154FE79E4B19}" type="presParOf" srcId="{6931C3D6-2CA1-4550-9D30-4F190C60E244}" destId="{F6BD6146-4F3D-4BDA-8ACC-BFFCA378EB1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B1D58-2AA4-4D3D-9C6A-4C3DB6C544A5}">
      <dsp:nvSpPr>
        <dsp:cNvPr id="0" name=""/>
        <dsp:cNvSpPr/>
      </dsp:nvSpPr>
      <dsp:spPr>
        <a:xfrm>
          <a:off x="3982600" y="1833470"/>
          <a:ext cx="210986" cy="1179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93" y="0"/>
              </a:lnTo>
              <a:lnTo>
                <a:pt x="105493" y="1179390"/>
              </a:lnTo>
              <a:lnTo>
                <a:pt x="210986" y="117939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58140" y="2393212"/>
        <a:ext cx="59905" cy="59905"/>
      </dsp:txXfrm>
    </dsp:sp>
    <dsp:sp modelId="{BCF13C5D-7314-48E0-A586-5F3EE2F9BC6B}">
      <dsp:nvSpPr>
        <dsp:cNvPr id="0" name=""/>
        <dsp:cNvSpPr/>
      </dsp:nvSpPr>
      <dsp:spPr>
        <a:xfrm>
          <a:off x="3982600" y="1833470"/>
          <a:ext cx="210986" cy="387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493" y="0"/>
              </a:lnTo>
              <a:lnTo>
                <a:pt x="105493" y="387298"/>
              </a:lnTo>
              <a:lnTo>
                <a:pt x="210986" y="387298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77067" y="2016093"/>
        <a:ext cx="22051" cy="22051"/>
      </dsp:txXfrm>
    </dsp:sp>
    <dsp:sp modelId="{D304EBB4-F48B-42C0-8C34-F09532F6DBFE}">
      <dsp:nvSpPr>
        <dsp:cNvPr id="0" name=""/>
        <dsp:cNvSpPr/>
      </dsp:nvSpPr>
      <dsp:spPr>
        <a:xfrm>
          <a:off x="3982600" y="1428684"/>
          <a:ext cx="210986" cy="404786"/>
        </a:xfrm>
        <a:custGeom>
          <a:avLst/>
          <a:gdLst/>
          <a:ahLst/>
          <a:cxnLst/>
          <a:rect l="0" t="0" r="0" b="0"/>
          <a:pathLst>
            <a:path>
              <a:moveTo>
                <a:pt x="0" y="404786"/>
              </a:moveTo>
              <a:lnTo>
                <a:pt x="105493" y="404786"/>
              </a:lnTo>
              <a:lnTo>
                <a:pt x="105493" y="0"/>
              </a:lnTo>
              <a:lnTo>
                <a:pt x="210986" y="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76681" y="1619665"/>
        <a:ext cx="22823" cy="22823"/>
      </dsp:txXfrm>
    </dsp:sp>
    <dsp:sp modelId="{5B804CA9-925D-4B0F-A3C0-FAF1727B35C3}">
      <dsp:nvSpPr>
        <dsp:cNvPr id="0" name=""/>
        <dsp:cNvSpPr/>
      </dsp:nvSpPr>
      <dsp:spPr>
        <a:xfrm>
          <a:off x="3982600" y="636592"/>
          <a:ext cx="210986" cy="1196878"/>
        </a:xfrm>
        <a:custGeom>
          <a:avLst/>
          <a:gdLst/>
          <a:ahLst/>
          <a:cxnLst/>
          <a:rect l="0" t="0" r="0" b="0"/>
          <a:pathLst>
            <a:path>
              <a:moveTo>
                <a:pt x="0" y="1196878"/>
              </a:moveTo>
              <a:lnTo>
                <a:pt x="105493" y="1196878"/>
              </a:lnTo>
              <a:lnTo>
                <a:pt x="105493" y="0"/>
              </a:lnTo>
              <a:lnTo>
                <a:pt x="210986" y="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57710" y="1204647"/>
        <a:ext cx="60766" cy="60766"/>
      </dsp:txXfrm>
    </dsp:sp>
    <dsp:sp modelId="{11457F0A-D49D-44F7-8B43-53B8EBFB36F4}">
      <dsp:nvSpPr>
        <dsp:cNvPr id="0" name=""/>
        <dsp:cNvSpPr/>
      </dsp:nvSpPr>
      <dsp:spPr>
        <a:xfrm>
          <a:off x="723809" y="278605"/>
          <a:ext cx="3407851" cy="3109730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400" kern="1200" noProof="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Parte</a:t>
          </a:r>
          <a:r>
            <a:rPr lang="es-CO" sz="5400" kern="1200" noProof="0" dirty="0">
              <a:latin typeface="Arial" panose="020B0604020202020204" pitchFamily="34" charset="0"/>
              <a:cs typeface="Arial" panose="020B0604020202020204" pitchFamily="34" charset="0"/>
            </a:rPr>
            <a:t> estática (DDL)</a:t>
          </a:r>
        </a:p>
      </dsp:txBody>
      <dsp:txXfrm>
        <a:off x="723809" y="278605"/>
        <a:ext cx="3407851" cy="3109730"/>
      </dsp:txXfrm>
    </dsp:sp>
    <dsp:sp modelId="{A87CD8CE-ABDF-4CE4-9126-5BB6DEEA19BB}">
      <dsp:nvSpPr>
        <dsp:cNvPr id="0" name=""/>
        <dsp:cNvSpPr/>
      </dsp:nvSpPr>
      <dsp:spPr>
        <a:xfrm>
          <a:off x="4193586" y="278608"/>
          <a:ext cx="3023786" cy="715966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Entidades</a:t>
          </a:r>
        </a:p>
      </dsp:txBody>
      <dsp:txXfrm>
        <a:off x="4193586" y="278608"/>
        <a:ext cx="3023786" cy="715966"/>
      </dsp:txXfrm>
    </dsp:sp>
    <dsp:sp modelId="{7E6D5899-87BE-4686-9CFD-283BB9579DDE}">
      <dsp:nvSpPr>
        <dsp:cNvPr id="0" name=""/>
        <dsp:cNvSpPr/>
      </dsp:nvSpPr>
      <dsp:spPr>
        <a:xfrm>
          <a:off x="4193586" y="1070697"/>
          <a:ext cx="3028271" cy="715973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Atributos</a:t>
          </a:r>
        </a:p>
      </dsp:txBody>
      <dsp:txXfrm>
        <a:off x="4193586" y="1070697"/>
        <a:ext cx="3028271" cy="715973"/>
      </dsp:txXfrm>
    </dsp:sp>
    <dsp:sp modelId="{5522B659-66B3-4248-8BE7-A7B831F59C68}">
      <dsp:nvSpPr>
        <dsp:cNvPr id="0" name=""/>
        <dsp:cNvSpPr/>
      </dsp:nvSpPr>
      <dsp:spPr>
        <a:xfrm>
          <a:off x="4193586" y="1862785"/>
          <a:ext cx="3046119" cy="715966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Dominios</a:t>
          </a:r>
        </a:p>
      </dsp:txBody>
      <dsp:txXfrm>
        <a:off x="4193586" y="1862785"/>
        <a:ext cx="3046119" cy="715966"/>
      </dsp:txXfrm>
    </dsp:sp>
    <dsp:sp modelId="{244042B1-6EC7-4D4F-AC60-7176CDC7252A}">
      <dsp:nvSpPr>
        <dsp:cNvPr id="0" name=""/>
        <dsp:cNvSpPr/>
      </dsp:nvSpPr>
      <dsp:spPr>
        <a:xfrm>
          <a:off x="4193586" y="2654873"/>
          <a:ext cx="3046119" cy="715973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noProof="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Interrelaciones</a:t>
          </a:r>
        </a:p>
      </dsp:txBody>
      <dsp:txXfrm>
        <a:off x="4193586" y="2654873"/>
        <a:ext cx="3046119" cy="7159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4EBB4-F48B-42C0-8C34-F09532F6DBFE}">
      <dsp:nvSpPr>
        <dsp:cNvPr id="0" name=""/>
        <dsp:cNvSpPr/>
      </dsp:nvSpPr>
      <dsp:spPr>
        <a:xfrm>
          <a:off x="2958938" y="1829513"/>
          <a:ext cx="328255" cy="752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127" y="0"/>
              </a:lnTo>
              <a:lnTo>
                <a:pt x="164127" y="752116"/>
              </a:lnTo>
              <a:lnTo>
                <a:pt x="328255" y="75211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/>
        </a:p>
      </dsp:txBody>
      <dsp:txXfrm>
        <a:off x="3102550" y="2185056"/>
        <a:ext cx="41031" cy="41031"/>
      </dsp:txXfrm>
    </dsp:sp>
    <dsp:sp modelId="{5B804CA9-925D-4B0F-A3C0-FAF1727B35C3}">
      <dsp:nvSpPr>
        <dsp:cNvPr id="0" name=""/>
        <dsp:cNvSpPr/>
      </dsp:nvSpPr>
      <dsp:spPr>
        <a:xfrm>
          <a:off x="2958938" y="1102579"/>
          <a:ext cx="328325" cy="726934"/>
        </a:xfrm>
        <a:custGeom>
          <a:avLst/>
          <a:gdLst/>
          <a:ahLst/>
          <a:cxnLst/>
          <a:rect l="0" t="0" r="0" b="0"/>
          <a:pathLst>
            <a:path>
              <a:moveTo>
                <a:pt x="0" y="726934"/>
              </a:moveTo>
              <a:lnTo>
                <a:pt x="164162" y="726934"/>
              </a:lnTo>
              <a:lnTo>
                <a:pt x="164162" y="0"/>
              </a:lnTo>
              <a:lnTo>
                <a:pt x="328325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 dirty="0"/>
        </a:p>
      </dsp:txBody>
      <dsp:txXfrm>
        <a:off x="3103160" y="1446105"/>
        <a:ext cx="39882" cy="39882"/>
      </dsp:txXfrm>
    </dsp:sp>
    <dsp:sp modelId="{11457F0A-D49D-44F7-8B43-53B8EBFB36F4}">
      <dsp:nvSpPr>
        <dsp:cNvPr id="0" name=""/>
        <dsp:cNvSpPr/>
      </dsp:nvSpPr>
      <dsp:spPr>
        <a:xfrm>
          <a:off x="-297604" y="360041"/>
          <a:ext cx="3574143" cy="29389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400" kern="1200" noProof="0" dirty="0"/>
            <a:t>Parte dinámica (DML)</a:t>
          </a:r>
        </a:p>
      </dsp:txBody>
      <dsp:txXfrm>
        <a:off x="-297604" y="360041"/>
        <a:ext cx="3574143" cy="2938943"/>
      </dsp:txXfrm>
    </dsp:sp>
    <dsp:sp modelId="{A87CD8CE-ABDF-4CE4-9126-5BB6DEEA19BB}">
      <dsp:nvSpPr>
        <dsp:cNvPr id="0" name=""/>
        <dsp:cNvSpPr/>
      </dsp:nvSpPr>
      <dsp:spPr>
        <a:xfrm>
          <a:off x="3287264" y="360035"/>
          <a:ext cx="3961983" cy="14850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u="sng" kern="1200" noProof="0" dirty="0"/>
            <a:t>Selección</a:t>
          </a:r>
          <a:r>
            <a:rPr lang="es-CO" sz="2300" kern="1200" noProof="0" dirty="0"/>
            <a:t> de entidades,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kern="1200" noProof="0" dirty="0"/>
            <a:t>atributos, interrelaciones</a:t>
          </a:r>
        </a:p>
      </dsp:txBody>
      <dsp:txXfrm>
        <a:off x="3287264" y="360035"/>
        <a:ext cx="3961983" cy="1485086"/>
      </dsp:txXfrm>
    </dsp:sp>
    <dsp:sp modelId="{7E6D5899-87BE-4686-9CFD-283BB9579DDE}">
      <dsp:nvSpPr>
        <dsp:cNvPr id="0" name=""/>
        <dsp:cNvSpPr/>
      </dsp:nvSpPr>
      <dsp:spPr>
        <a:xfrm>
          <a:off x="3287194" y="1872207"/>
          <a:ext cx="3964966" cy="14188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u="sng" kern="1200" noProof="0" dirty="0"/>
            <a:t>Acción</a:t>
          </a:r>
          <a:r>
            <a:rPr lang="es-CO" sz="2400" kern="1200" noProof="0" dirty="0"/>
            <a:t> aplicada a entidades, Atributos, interrelaciones que sirve para actualizar datos</a:t>
          </a:r>
        </a:p>
      </dsp:txBody>
      <dsp:txXfrm>
        <a:off x="3287194" y="1872207"/>
        <a:ext cx="3964966" cy="1418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20/02/2024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20/02/2024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423358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Objetivos de Aprendizaje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4" y="1792700"/>
            <a:ext cx="9516534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Describir las principales características de un modelo de datos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Explicar la importancia de la modelización conceptual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componentes básicos del modelo E-R</a:t>
            </a: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principales tipos de cardinalidad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generalización y especialización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agregación  y descomposición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Diseñar un modelo de datos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Construir un esquema relacional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Transformar un diagrama E-R en un esquema relacional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38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6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ts val="3538"/>
              </a:lnSpc>
              <a:spcBef>
                <a:spcPts val="650"/>
              </a:spcBef>
              <a:buSzPct val="100000"/>
              <a:defRPr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Diseño Conceptual</a:t>
            </a:r>
          </a:p>
          <a:p>
            <a:pPr marL="257175" indent="-255588" algn="just" eaLnBrk="1" hangingPunct="1">
              <a:lnSpc>
                <a:spcPct val="95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Corresponde a la creación del modelo de datos que mejor representa el mundo real del problema. </a:t>
            </a:r>
          </a:p>
          <a:p>
            <a:pPr marL="257175" indent="-255588" algn="just" eaLnBrk="1" hangingPunct="1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previo a conceptualización de la base de datos: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Análisis del Problema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(AYUDAS: Plan estratégico y el modelo del negocio).</a:t>
            </a:r>
          </a:p>
          <a:p>
            <a:pPr marL="257175" indent="-255588" algn="just" eaLnBrk="1" hangingPunct="1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diseño conceptual es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independiente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software que se va a utilizar en la implementación.</a:t>
            </a:r>
          </a:p>
          <a:p>
            <a:pPr marL="257175" indent="-255588" algn="just" eaLnBrk="1" hangingPunct="1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debe buscar la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cooperación con los usuarios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73137" lvl="1" indent="-514350" algn="just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+mj-lt"/>
              <a:buAutoNum type="romanUcPeriod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Mejora la calidad del Esquema Conceptual</a:t>
            </a:r>
          </a:p>
          <a:p>
            <a:pPr marL="973137" lvl="1" indent="-514350" algn="just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+mj-lt"/>
              <a:buAutoNum type="romanUcPeriod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Eleva la probabilidad de éxito del Proyecto</a:t>
            </a:r>
          </a:p>
          <a:p>
            <a:pPr marL="973137" lvl="1" indent="-514350" algn="just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+mj-lt"/>
              <a:buAutoNum type="romanUcPeriod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Reduce los costos de desarrollo</a:t>
            </a:r>
          </a:p>
          <a:p>
            <a:pPr marL="973137" lvl="1" indent="-514350" algn="just">
              <a:lnSpc>
                <a:spcPct val="95000"/>
              </a:lnSpc>
              <a:spcBef>
                <a:spcPts val="650"/>
              </a:spcBef>
              <a:buClr>
                <a:srgbClr val="0000FF"/>
              </a:buClr>
              <a:buSzPct val="100000"/>
              <a:buFont typeface="+mj-lt"/>
              <a:buAutoNum type="romanUcPeriod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Usuario acepta y usa el sistema desarrollado</a:t>
            </a:r>
            <a:endParaRPr lang="es-CO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22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SzPct val="100000"/>
              <a:defRPr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 del Diseño Conceptual</a:t>
            </a:r>
          </a:p>
          <a:p>
            <a:pPr marL="266700" indent="-265113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SzPct val="95000"/>
              <a:buFont typeface="Wingdings" panose="05000000000000000000" pitchFamily="2" charset="2"/>
              <a:buChar char="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elección del DBMS puede posponerse.</a:t>
            </a:r>
          </a:p>
          <a:p>
            <a:pPr marL="266700" indent="-265113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SzPct val="95000"/>
              <a:buFont typeface="Wingdings" panose="05000000000000000000" pitchFamily="2" charset="2"/>
              <a:buChar char="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constituye en el punto de inicio de un nuevo diseño, si cambian los requerimientos.</a:t>
            </a:r>
          </a:p>
          <a:p>
            <a:pPr marL="266700" indent="-265113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SzPct val="95000"/>
              <a:buFont typeface="Wingdings" panose="05000000000000000000" pitchFamily="2" charset="2"/>
              <a:buChar char="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 un marco de trabajo homogéneo.</a:t>
            </a:r>
          </a:p>
          <a:p>
            <a:pPr marL="266700" indent="-265113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SzPct val="95000"/>
              <a:buFont typeface="Wingdings" panose="05000000000000000000" pitchFamily="2" charset="2"/>
              <a:buChar char="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 la operación, uso, transformación y mantenimiento de los datos.</a:t>
            </a:r>
          </a:p>
          <a:p>
            <a:pPr marL="0" indent="1588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SzPct val="100000"/>
              <a:tabLst>
                <a:tab pos="715963" algn="l"/>
                <a:tab pos="719138" algn="l"/>
                <a:tab pos="1165225" algn="l"/>
                <a:tab pos="1614488" algn="l"/>
                <a:tab pos="2063750" algn="l"/>
                <a:tab pos="2513013" algn="l"/>
                <a:tab pos="2962275" algn="l"/>
                <a:tab pos="3411538" algn="l"/>
                <a:tab pos="3860800" algn="l"/>
                <a:tab pos="4310063" algn="l"/>
                <a:tab pos="4759325" algn="l"/>
                <a:tab pos="5208588" algn="l"/>
                <a:tab pos="5657850" algn="l"/>
                <a:tab pos="6107113" algn="l"/>
                <a:tab pos="6556375" algn="l"/>
                <a:tab pos="7005638" algn="l"/>
                <a:tab pos="7454900" algn="l"/>
                <a:tab pos="7904163" algn="l"/>
                <a:tab pos="8353425" algn="l"/>
                <a:tab pos="8802688" algn="l"/>
                <a:tab pos="9251950" algn="l"/>
              </a:tabLst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proceso de elaboración del diseño conceptual se recurre a la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Abstracción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1588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SzPct val="100000"/>
              <a:tabLst>
                <a:tab pos="715963" algn="l"/>
                <a:tab pos="719138" algn="l"/>
                <a:tab pos="1165225" algn="l"/>
                <a:tab pos="1614488" algn="l"/>
                <a:tab pos="2063750" algn="l"/>
                <a:tab pos="2513013" algn="l"/>
                <a:tab pos="2962275" algn="l"/>
                <a:tab pos="3411538" algn="l"/>
                <a:tab pos="3860800" algn="l"/>
                <a:tab pos="4310063" algn="l"/>
                <a:tab pos="4759325" algn="l"/>
                <a:tab pos="5208588" algn="l"/>
                <a:tab pos="5657850" algn="l"/>
                <a:tab pos="6107113" algn="l"/>
                <a:tab pos="6556375" algn="l"/>
                <a:tab pos="7005638" algn="l"/>
                <a:tab pos="7454900" algn="l"/>
                <a:tab pos="7904163" algn="l"/>
                <a:tab pos="8353425" algn="l"/>
                <a:tab pos="8802688" algn="l"/>
                <a:tab pos="9251950" algn="l"/>
              </a:tabLst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Abstracción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el proceso mental que se aplica al seleccionar algunas características y propiedades de un conjunto de objetos y excluir otras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1588" algn="just" eaLnBrk="1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SzPct val="100000"/>
              <a:tabLst>
                <a:tab pos="715963" algn="l"/>
                <a:tab pos="719138" algn="l"/>
                <a:tab pos="1165225" algn="l"/>
                <a:tab pos="1614488" algn="l"/>
                <a:tab pos="2063750" algn="l"/>
                <a:tab pos="2513013" algn="l"/>
                <a:tab pos="2962275" algn="l"/>
                <a:tab pos="3411538" algn="l"/>
                <a:tab pos="3860800" algn="l"/>
                <a:tab pos="4310063" algn="l"/>
                <a:tab pos="4759325" algn="l"/>
                <a:tab pos="5208588" algn="l"/>
                <a:tab pos="5657850" algn="l"/>
                <a:tab pos="6107113" algn="l"/>
                <a:tab pos="6556375" algn="l"/>
                <a:tab pos="7005638" algn="l"/>
                <a:tab pos="7454900" algn="l"/>
                <a:tab pos="7904163" algn="l"/>
                <a:tab pos="8353425" algn="l"/>
                <a:tab pos="8802688" algn="l"/>
                <a:tab pos="9251950" algn="l"/>
              </a:tabLst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El Estudiante.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E1A045B-F7ED-1CBB-FDFC-CF630E86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57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542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0000"/>
              </a:lnSpc>
              <a:spcBef>
                <a:spcPts val="55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Mecanismos de Abstracción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Clasificación / Instanciación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Agregación / Descomposición</a:t>
            </a:r>
          </a:p>
          <a:p>
            <a:pPr algn="just" eaLnBrk="1" hangingPunct="1">
              <a:lnSpc>
                <a:spcPct val="90000"/>
              </a:lnSpc>
              <a:spcBef>
                <a:spcPts val="3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Generalización / Especialización</a:t>
            </a:r>
          </a:p>
          <a:p>
            <a:pPr algn="just" eaLnBrk="1" hangingPunct="1">
              <a:lnSpc>
                <a:spcPct val="80000"/>
              </a:lnSpc>
              <a:spcBef>
                <a:spcPts val="550"/>
              </a:spcBef>
              <a:buClrTx/>
              <a:buFontTx/>
              <a:buNone/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spcBef>
                <a:spcPts val="55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Clasificación / Instanciación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Concepto que permite agrupar entidades que comparten condiciones con características y pertenencia comunes a una clase.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Se usa para definir el concepto de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de objetos de la realidad, caracterizados por propiedades comunes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Ejemplo: la Bicicleta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Obtener instancias u ocurrencias se conoce como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instanciación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3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60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80000"/>
              </a:lnSpc>
              <a:spcBef>
                <a:spcPts val="55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Agregación / Descomposición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Concepto que permite definir una nueva clase a partir de un conjunto de clases que representan sus partes componentes.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La agregación transforma una relación entre objetos en un objeto mezclado de mayor nivel.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Ejemplo : Sean las clases Rueda, Pedal, Manubrio, Sillín, Cambio, Marco, etc. A partir de ellas puedo formar la clase Bicicleta.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6D97674-9390-2384-6DEC-AC29203F315B}"/>
              </a:ext>
            </a:extLst>
          </p:cNvPr>
          <p:cNvGrpSpPr>
            <a:grpSpLocks/>
          </p:cNvGrpSpPr>
          <p:nvPr/>
        </p:nvGrpSpPr>
        <p:grpSpPr bwMode="auto">
          <a:xfrm>
            <a:off x="5597105" y="4075981"/>
            <a:ext cx="1668463" cy="427038"/>
            <a:chOff x="2352" y="2736"/>
            <a:chExt cx="1051" cy="269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F430A86F-31DE-18B3-1772-77FE149E8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736"/>
              <a:ext cx="1051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2D4B0DF3-EB40-24AE-6DD9-4EC3A9ECC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36"/>
              <a:ext cx="10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n-GB" sz="2000" dirty="0">
                  <a:latin typeface="Times New Roman" panose="02020603050405020304" pitchFamily="18" charset="0"/>
                </a:rPr>
                <a:t>Bicicleta</a:t>
              </a:r>
            </a:p>
          </p:txBody>
        </p:sp>
      </p:grpSp>
      <p:sp>
        <p:nvSpPr>
          <p:cNvPr id="7" name="AutoShape 6">
            <a:extLst>
              <a:ext uri="{FF2B5EF4-FFF2-40B4-BE49-F238E27FC236}">
                <a16:creationId xmlns:a16="http://schemas.microsoft.com/office/drawing/2014/main" id="{16971214-8190-C591-FD74-20DCC9CD1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068" y="4155356"/>
            <a:ext cx="311150" cy="219075"/>
          </a:xfrm>
          <a:custGeom>
            <a:avLst/>
            <a:gdLst>
              <a:gd name="T0" fmla="*/ 2147483646 w 865"/>
              <a:gd name="T1" fmla="*/ 0 h 609"/>
              <a:gd name="T2" fmla="*/ 2147483646 w 865"/>
              <a:gd name="T3" fmla="*/ 2147483646 h 609"/>
              <a:gd name="T4" fmla="*/ 2147483646 w 865"/>
              <a:gd name="T5" fmla="*/ 2147483646 h 609"/>
              <a:gd name="T6" fmla="*/ 0 w 865"/>
              <a:gd name="T7" fmla="*/ 2147483646 h 609"/>
              <a:gd name="T8" fmla="*/ 2147483646 w 865"/>
              <a:gd name="T9" fmla="*/ 0 h 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5"/>
              <a:gd name="T16" fmla="*/ 0 h 609"/>
              <a:gd name="T17" fmla="*/ 865 w 865"/>
              <a:gd name="T18" fmla="*/ 609 h 6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5" h="609">
                <a:moveTo>
                  <a:pt x="354" y="0"/>
                </a:moveTo>
                <a:lnTo>
                  <a:pt x="864" y="192"/>
                </a:lnTo>
                <a:lnTo>
                  <a:pt x="511" y="608"/>
                </a:lnTo>
                <a:lnTo>
                  <a:pt x="0" y="416"/>
                </a:lnTo>
                <a:lnTo>
                  <a:pt x="354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0FF574A7-5AAA-1BCF-59A9-6B8FD5FFAF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3105" y="4288706"/>
            <a:ext cx="1295400" cy="4889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34F723BD-3D6F-122A-8A23-8172292CA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6043" y="4520481"/>
            <a:ext cx="249237" cy="250825"/>
          </a:xfrm>
          <a:custGeom>
            <a:avLst/>
            <a:gdLst>
              <a:gd name="T0" fmla="*/ 2147483646 w 692"/>
              <a:gd name="T1" fmla="*/ 2147483646 h 696"/>
              <a:gd name="T2" fmla="*/ 2147483646 w 692"/>
              <a:gd name="T3" fmla="*/ 2147483646 h 696"/>
              <a:gd name="T4" fmla="*/ 2147483646 w 692"/>
              <a:gd name="T5" fmla="*/ 2147483646 h 696"/>
              <a:gd name="T6" fmla="*/ 0 w 692"/>
              <a:gd name="T7" fmla="*/ 0 h 696"/>
              <a:gd name="T8" fmla="*/ 2147483646 w 692"/>
              <a:gd name="T9" fmla="*/ 2147483646 h 6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2"/>
              <a:gd name="T16" fmla="*/ 0 h 696"/>
              <a:gd name="T17" fmla="*/ 692 w 692"/>
              <a:gd name="T18" fmla="*/ 696 h 6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2" h="696">
                <a:moveTo>
                  <a:pt x="599" y="96"/>
                </a:moveTo>
                <a:lnTo>
                  <a:pt x="691" y="695"/>
                </a:lnTo>
                <a:lnTo>
                  <a:pt x="91" y="600"/>
                </a:lnTo>
                <a:lnTo>
                  <a:pt x="0" y="0"/>
                </a:lnTo>
                <a:lnTo>
                  <a:pt x="599" y="96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A101D3D9-F115-A5DD-A735-26C4475C3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543" y="4523656"/>
            <a:ext cx="273050" cy="236538"/>
          </a:xfrm>
          <a:custGeom>
            <a:avLst/>
            <a:gdLst>
              <a:gd name="T0" fmla="*/ 2147483646 w 759"/>
              <a:gd name="T1" fmla="*/ 2147483646 h 657"/>
              <a:gd name="T2" fmla="*/ 2147483646 w 759"/>
              <a:gd name="T3" fmla="*/ 0 h 657"/>
              <a:gd name="T4" fmla="*/ 2147483646 w 759"/>
              <a:gd name="T5" fmla="*/ 2147483646 h 657"/>
              <a:gd name="T6" fmla="*/ 0 w 759"/>
              <a:gd name="T7" fmla="*/ 2147483646 h 657"/>
              <a:gd name="T8" fmla="*/ 2147483646 w 759"/>
              <a:gd name="T9" fmla="*/ 2147483646 h 6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9"/>
              <a:gd name="T16" fmla="*/ 0 h 657"/>
              <a:gd name="T17" fmla="*/ 759 w 759"/>
              <a:gd name="T18" fmla="*/ 657 h 6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9" h="657">
                <a:moveTo>
                  <a:pt x="166" y="81"/>
                </a:moveTo>
                <a:lnTo>
                  <a:pt x="758" y="0"/>
                </a:lnTo>
                <a:lnTo>
                  <a:pt x="593" y="576"/>
                </a:lnTo>
                <a:lnTo>
                  <a:pt x="0" y="656"/>
                </a:lnTo>
                <a:lnTo>
                  <a:pt x="166" y="81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1AD2AC14-CE93-288B-0D1D-8C695B607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080" y="4536356"/>
            <a:ext cx="220663" cy="314325"/>
          </a:xfrm>
          <a:custGeom>
            <a:avLst/>
            <a:gdLst>
              <a:gd name="T0" fmla="*/ 0 w 613"/>
              <a:gd name="T1" fmla="*/ 2147483646 h 873"/>
              <a:gd name="T2" fmla="*/ 2147483646 w 613"/>
              <a:gd name="T3" fmla="*/ 0 h 873"/>
              <a:gd name="T4" fmla="*/ 2147483646 w 613"/>
              <a:gd name="T5" fmla="*/ 2147483646 h 873"/>
              <a:gd name="T6" fmla="*/ 2147483646 w 613"/>
              <a:gd name="T7" fmla="*/ 2147483646 h 873"/>
              <a:gd name="T8" fmla="*/ 0 w 613"/>
              <a:gd name="T9" fmla="*/ 2147483646 h 8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3"/>
              <a:gd name="T16" fmla="*/ 0 h 873"/>
              <a:gd name="T17" fmla="*/ 613 w 613"/>
              <a:gd name="T18" fmla="*/ 873 h 8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3" h="873">
                <a:moveTo>
                  <a:pt x="0" y="366"/>
                </a:moveTo>
                <a:lnTo>
                  <a:pt x="405" y="0"/>
                </a:lnTo>
                <a:lnTo>
                  <a:pt x="612" y="506"/>
                </a:lnTo>
                <a:lnTo>
                  <a:pt x="206" y="872"/>
                </a:lnTo>
                <a:lnTo>
                  <a:pt x="0" y="366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5ECD63F7-4AE6-DA87-F21D-61A67A159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880" y="4537944"/>
            <a:ext cx="219075" cy="311150"/>
          </a:xfrm>
          <a:custGeom>
            <a:avLst/>
            <a:gdLst>
              <a:gd name="T0" fmla="*/ 0 w 609"/>
              <a:gd name="T1" fmla="*/ 2147483646 h 865"/>
              <a:gd name="T2" fmla="*/ 2147483646 w 609"/>
              <a:gd name="T3" fmla="*/ 0 h 865"/>
              <a:gd name="T4" fmla="*/ 2147483646 w 609"/>
              <a:gd name="T5" fmla="*/ 2147483646 h 865"/>
              <a:gd name="T6" fmla="*/ 2147483646 w 609"/>
              <a:gd name="T7" fmla="*/ 2147483646 h 865"/>
              <a:gd name="T8" fmla="*/ 0 w 609"/>
              <a:gd name="T9" fmla="*/ 2147483646 h 8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9"/>
              <a:gd name="T16" fmla="*/ 0 h 865"/>
              <a:gd name="T17" fmla="*/ 609 w 609"/>
              <a:gd name="T18" fmla="*/ 865 h 8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9" h="865">
                <a:moveTo>
                  <a:pt x="0" y="510"/>
                </a:moveTo>
                <a:lnTo>
                  <a:pt x="193" y="0"/>
                </a:lnTo>
                <a:lnTo>
                  <a:pt x="608" y="353"/>
                </a:lnTo>
                <a:lnTo>
                  <a:pt x="416" y="864"/>
                </a:lnTo>
                <a:lnTo>
                  <a:pt x="0" y="51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F853FB6A-36DD-AF92-93F1-08CD4F77D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680" y="4079156"/>
            <a:ext cx="312738" cy="220663"/>
          </a:xfrm>
          <a:custGeom>
            <a:avLst/>
            <a:gdLst>
              <a:gd name="T0" fmla="*/ 2147483646 w 869"/>
              <a:gd name="T1" fmla="*/ 0 h 613"/>
              <a:gd name="T2" fmla="*/ 2147483646 w 869"/>
              <a:gd name="T3" fmla="*/ 2147483646 h 613"/>
              <a:gd name="T4" fmla="*/ 2147483646 w 869"/>
              <a:gd name="T5" fmla="*/ 2147483646 h 613"/>
              <a:gd name="T6" fmla="*/ 0 w 869"/>
              <a:gd name="T7" fmla="*/ 2147483646 h 613"/>
              <a:gd name="T8" fmla="*/ 2147483646 w 869"/>
              <a:gd name="T9" fmla="*/ 0 h 6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13"/>
              <a:gd name="T17" fmla="*/ 869 w 869"/>
              <a:gd name="T18" fmla="*/ 613 h 6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13">
                <a:moveTo>
                  <a:pt x="506" y="0"/>
                </a:moveTo>
                <a:lnTo>
                  <a:pt x="868" y="408"/>
                </a:lnTo>
                <a:lnTo>
                  <a:pt x="362" y="612"/>
                </a:lnTo>
                <a:lnTo>
                  <a:pt x="0" y="202"/>
                </a:lnTo>
                <a:lnTo>
                  <a:pt x="506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C9D68CA-E55E-73D1-B31C-8B96EA076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8305" y="4228381"/>
            <a:ext cx="1295400" cy="22860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C7876893-9B83-C5F7-4F47-038F34A27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7505" y="4745906"/>
            <a:ext cx="457200" cy="3365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E025CBA2-67D9-FFF2-5B77-582078C40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2105" y="4761781"/>
            <a:ext cx="381000" cy="30480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EE2F3EAA-0AD2-04DA-CA22-CE41D7F19F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24230" y="4822106"/>
            <a:ext cx="184150" cy="6413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5453AF9-F421-9CB0-1C8A-29E6A67742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5705" y="4822106"/>
            <a:ext cx="152400" cy="6413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6E6DEA-C17D-AE8A-B193-1EB2FFD7A4AB}"/>
              </a:ext>
            </a:extLst>
          </p:cNvPr>
          <p:cNvGrpSpPr>
            <a:grpSpLocks/>
          </p:cNvGrpSpPr>
          <p:nvPr/>
        </p:nvGrpSpPr>
        <p:grpSpPr bwMode="auto">
          <a:xfrm>
            <a:off x="2853905" y="4533181"/>
            <a:ext cx="1211263" cy="427038"/>
            <a:chOff x="624" y="3024"/>
            <a:chExt cx="763" cy="269"/>
          </a:xfrm>
        </p:grpSpPr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C0AD3CC3-5749-178C-95D5-545043D17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024"/>
              <a:ext cx="763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AC018AF0-4EF5-C780-8F02-AE0A7B30E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024"/>
              <a:ext cx="7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n-GB" sz="2000" dirty="0">
                  <a:latin typeface="Times New Roman" panose="02020603050405020304" pitchFamily="18" charset="0"/>
                </a:rPr>
                <a:t>Rueda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91D284-49B6-5ABD-8A44-2B56FDC5C9DD}"/>
              </a:ext>
            </a:extLst>
          </p:cNvPr>
          <p:cNvGrpSpPr>
            <a:grpSpLocks/>
          </p:cNvGrpSpPr>
          <p:nvPr/>
        </p:nvGrpSpPr>
        <p:grpSpPr bwMode="auto">
          <a:xfrm>
            <a:off x="4149305" y="5066581"/>
            <a:ext cx="981075" cy="425450"/>
            <a:chOff x="1440" y="3360"/>
            <a:chExt cx="618" cy="268"/>
          </a:xfrm>
        </p:grpSpPr>
        <p:sp>
          <p:nvSpPr>
            <p:cNvPr id="23" name="AutoShape 22">
              <a:extLst>
                <a:ext uri="{FF2B5EF4-FFF2-40B4-BE49-F238E27FC236}">
                  <a16:creationId xmlns:a16="http://schemas.microsoft.com/office/drawing/2014/main" id="{1EF37F7B-8B65-3051-DEB9-E765A2125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360"/>
              <a:ext cx="618" cy="268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52E483CF-CB49-BE36-793B-6372B69B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360"/>
              <a:ext cx="6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n-GB" sz="2000" dirty="0">
                  <a:latin typeface="Times New Roman" panose="02020603050405020304" pitchFamily="18" charset="0"/>
                </a:rPr>
                <a:t>Pedal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1C7CE5-B2D2-57B7-4446-8CF5BA5D2C15}"/>
              </a:ext>
            </a:extLst>
          </p:cNvPr>
          <p:cNvGrpSpPr>
            <a:grpSpLocks/>
          </p:cNvGrpSpPr>
          <p:nvPr/>
        </p:nvGrpSpPr>
        <p:grpSpPr bwMode="auto">
          <a:xfrm>
            <a:off x="5216105" y="5447581"/>
            <a:ext cx="1135063" cy="427038"/>
            <a:chOff x="2112" y="3600"/>
            <a:chExt cx="715" cy="269"/>
          </a:xfrm>
        </p:grpSpPr>
        <p:sp>
          <p:nvSpPr>
            <p:cNvPr id="26" name="AutoShape 25">
              <a:extLst>
                <a:ext uri="{FF2B5EF4-FFF2-40B4-BE49-F238E27FC236}">
                  <a16:creationId xmlns:a16="http://schemas.microsoft.com/office/drawing/2014/main" id="{DEDAB36C-9BB2-9275-A8FE-1A20C1D72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600"/>
              <a:ext cx="715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B2703787-9B39-2433-A866-A67E6713F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600"/>
              <a:ext cx="7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s-CO" sz="2000" dirty="0">
                  <a:latin typeface="Times New Roman" panose="02020603050405020304" pitchFamily="18" charset="0"/>
                </a:rPr>
                <a:t>Sillín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435942A-DD65-2927-CBAA-302064328973}"/>
              </a:ext>
            </a:extLst>
          </p:cNvPr>
          <p:cNvGrpSpPr>
            <a:grpSpLocks/>
          </p:cNvGrpSpPr>
          <p:nvPr/>
        </p:nvGrpSpPr>
        <p:grpSpPr bwMode="auto">
          <a:xfrm>
            <a:off x="6435305" y="5447581"/>
            <a:ext cx="1057275" cy="425450"/>
            <a:chOff x="2880" y="3600"/>
            <a:chExt cx="666" cy="268"/>
          </a:xfrm>
        </p:grpSpPr>
        <p:sp>
          <p:nvSpPr>
            <p:cNvPr id="29" name="AutoShape 28">
              <a:extLst>
                <a:ext uri="{FF2B5EF4-FFF2-40B4-BE49-F238E27FC236}">
                  <a16:creationId xmlns:a16="http://schemas.microsoft.com/office/drawing/2014/main" id="{8E466CB7-BFCA-55F5-AAEC-BB6F6152D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600"/>
              <a:ext cx="666" cy="268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1ADAE563-3BD5-F759-3EFD-DDB57EB90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600"/>
              <a:ext cx="6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n-GB" sz="2000" dirty="0">
                  <a:latin typeface="Times New Roman" panose="02020603050405020304" pitchFamily="18" charset="0"/>
                </a:rPr>
                <a:t>Cambio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702547-F101-1110-6A87-394F88913A26}"/>
              </a:ext>
            </a:extLst>
          </p:cNvPr>
          <p:cNvGrpSpPr>
            <a:grpSpLocks/>
          </p:cNvGrpSpPr>
          <p:nvPr/>
        </p:nvGrpSpPr>
        <p:grpSpPr bwMode="auto">
          <a:xfrm>
            <a:off x="7730705" y="5066581"/>
            <a:ext cx="1057275" cy="425450"/>
            <a:chOff x="3696" y="3360"/>
            <a:chExt cx="666" cy="268"/>
          </a:xfrm>
        </p:grpSpPr>
        <p:sp>
          <p:nvSpPr>
            <p:cNvPr id="32" name="AutoShape 31">
              <a:extLst>
                <a:ext uri="{FF2B5EF4-FFF2-40B4-BE49-F238E27FC236}">
                  <a16:creationId xmlns:a16="http://schemas.microsoft.com/office/drawing/2014/main" id="{84C33488-96B0-0942-4820-A12E840E0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360"/>
              <a:ext cx="666" cy="268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3A288F42-36C7-2868-AFB8-6FCE1F8DF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360"/>
              <a:ext cx="6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n-GB" sz="2000" dirty="0">
                  <a:latin typeface="Times New Roman" panose="02020603050405020304" pitchFamily="18" charset="0"/>
                </a:rPr>
                <a:t>Marco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59EC49-5318-9A44-627D-B5F0657C7B62}"/>
              </a:ext>
            </a:extLst>
          </p:cNvPr>
          <p:cNvGrpSpPr>
            <a:grpSpLocks/>
          </p:cNvGrpSpPr>
          <p:nvPr/>
        </p:nvGrpSpPr>
        <p:grpSpPr bwMode="auto">
          <a:xfrm>
            <a:off x="8873705" y="4380781"/>
            <a:ext cx="1363663" cy="427038"/>
            <a:chOff x="4416" y="2928"/>
            <a:chExt cx="859" cy="269"/>
          </a:xfrm>
        </p:grpSpPr>
        <p:sp>
          <p:nvSpPr>
            <p:cNvPr id="35" name="AutoShape 34">
              <a:extLst>
                <a:ext uri="{FF2B5EF4-FFF2-40B4-BE49-F238E27FC236}">
                  <a16:creationId xmlns:a16="http://schemas.microsoft.com/office/drawing/2014/main" id="{38C63973-A980-16D6-CD2B-94DF5DB1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28"/>
              <a:ext cx="859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A69410BA-15D5-16F0-48DD-BCAB09B55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928"/>
              <a:ext cx="8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s-CO" sz="2000" dirty="0">
                  <a:latin typeface="Times New Roman" panose="02020603050405020304" pitchFamily="18" charset="0"/>
                </a:rPr>
                <a:t>Manubrio</a:t>
              </a:r>
            </a:p>
          </p:txBody>
        </p:sp>
      </p:grpSp>
      <p:sp>
        <p:nvSpPr>
          <p:cNvPr id="37" name="Text Box 36">
            <a:extLst>
              <a:ext uri="{FF2B5EF4-FFF2-40B4-BE49-F238E27FC236}">
                <a16:creationId xmlns:a16="http://schemas.microsoft.com/office/drawing/2014/main" id="{EE641286-721F-B541-B316-0FF07F751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305" y="43807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523C44FB-0045-DBEB-CBE8-223D0B0DE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105" y="47617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D233C9D3-C519-E849-8DEF-868C3653C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105" y="51427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01E98595-AB29-7970-E9A7-25B8DA834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105" y="48379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" name="Text Box 43">
            <a:extLst>
              <a:ext uri="{FF2B5EF4-FFF2-40B4-BE49-F238E27FC236}">
                <a16:creationId xmlns:a16="http://schemas.microsoft.com/office/drawing/2014/main" id="{77B789E1-7FA6-ADF0-632C-F97FDEC0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705" y="47617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2" name="Text Box 44">
            <a:extLst>
              <a:ext uri="{FF2B5EF4-FFF2-40B4-BE49-F238E27FC236}">
                <a16:creationId xmlns:a16="http://schemas.microsoft.com/office/drawing/2014/main" id="{1CB38F18-95D9-DB89-3294-3B08B476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8905" y="4380781"/>
            <a:ext cx="304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875"/>
              </a:spcBef>
              <a:buClrTx/>
              <a:buFontTx/>
              <a:buNone/>
            </a:pPr>
            <a:r>
              <a:rPr lang="en-GB" sz="1400" dirty="0">
                <a:latin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752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506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80000"/>
              </a:lnSpc>
              <a:spcBef>
                <a:spcPts val="55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Generalización / Especialización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Concepto que define una relación de subconjunto entre los elementos de dos o más clases.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La Generalización retorna una clase de objetos en un objeto genérico.</a:t>
            </a:r>
          </a:p>
          <a:p>
            <a:pPr algn="just" eaLnBrk="1" hangingPunct="1">
              <a:lnSpc>
                <a:spcPct val="80000"/>
              </a:lnSpc>
              <a:spcBef>
                <a:spcPts val="300"/>
              </a:spcBef>
              <a:spcAft>
                <a:spcPts val="9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Ejemplo: La clase Vehículo, es una generalización de la clase Bicicleta: (todas las Bicicletas son Vehículos)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305F44DF-5294-FAD9-AACF-81575D445C5C}"/>
              </a:ext>
            </a:extLst>
          </p:cNvPr>
          <p:cNvGrpSpPr>
            <a:grpSpLocks/>
          </p:cNvGrpSpPr>
          <p:nvPr/>
        </p:nvGrpSpPr>
        <p:grpSpPr bwMode="auto">
          <a:xfrm>
            <a:off x="5680195" y="3872781"/>
            <a:ext cx="1668463" cy="427038"/>
            <a:chOff x="2400" y="2352"/>
            <a:chExt cx="1051" cy="269"/>
          </a:xfrm>
        </p:grpSpPr>
        <p:sp>
          <p:nvSpPr>
            <p:cNvPr id="44" name="AutoShape 4">
              <a:extLst>
                <a:ext uri="{FF2B5EF4-FFF2-40B4-BE49-F238E27FC236}">
                  <a16:creationId xmlns:a16="http://schemas.microsoft.com/office/drawing/2014/main" id="{51DF85D0-5D58-1948-EC55-E3FF3A063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352"/>
              <a:ext cx="1051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6C73C57D-0872-B115-1D70-6FFD237B4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352"/>
              <a:ext cx="10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s-CO" sz="2000" dirty="0">
                  <a:latin typeface="Times New Roman" panose="02020603050405020304" pitchFamily="18" charset="0"/>
                </a:rPr>
                <a:t>Vehículo</a:t>
              </a:r>
            </a:p>
          </p:txBody>
        </p:sp>
      </p:grpSp>
      <p:grpSp>
        <p:nvGrpSpPr>
          <p:cNvPr id="46" name="Group 6">
            <a:extLst>
              <a:ext uri="{FF2B5EF4-FFF2-40B4-BE49-F238E27FC236}">
                <a16:creationId xmlns:a16="http://schemas.microsoft.com/office/drawing/2014/main" id="{49671E13-ED6B-D292-0670-CA50CC1C3D93}"/>
              </a:ext>
            </a:extLst>
          </p:cNvPr>
          <p:cNvGrpSpPr>
            <a:grpSpLocks/>
          </p:cNvGrpSpPr>
          <p:nvPr/>
        </p:nvGrpSpPr>
        <p:grpSpPr bwMode="auto">
          <a:xfrm>
            <a:off x="5680195" y="4939581"/>
            <a:ext cx="1668463" cy="427038"/>
            <a:chOff x="2400" y="3024"/>
            <a:chExt cx="1051" cy="269"/>
          </a:xfrm>
        </p:grpSpPr>
        <p:sp>
          <p:nvSpPr>
            <p:cNvPr id="47" name="AutoShape 7">
              <a:extLst>
                <a:ext uri="{FF2B5EF4-FFF2-40B4-BE49-F238E27FC236}">
                  <a16:creationId xmlns:a16="http://schemas.microsoft.com/office/drawing/2014/main" id="{A9A89E4C-EC71-701C-BA80-F1D65408C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024"/>
              <a:ext cx="1051" cy="269"/>
            </a:xfrm>
            <a:prstGeom prst="roundRect">
              <a:avLst>
                <a:gd name="adj" fmla="val 36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48" name="Text Box 8">
              <a:extLst>
                <a:ext uri="{FF2B5EF4-FFF2-40B4-BE49-F238E27FC236}">
                  <a16:creationId xmlns:a16="http://schemas.microsoft.com/office/drawing/2014/main" id="{5CA7C03D-B78A-63EC-E910-255727EFC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024"/>
              <a:ext cx="10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ts val="1250"/>
                </a:spcBef>
                <a:buClrTx/>
                <a:buFontTx/>
                <a:buNone/>
              </a:pPr>
              <a:r>
                <a:rPr lang="es-CO" sz="2000" dirty="0">
                  <a:latin typeface="Times New Roman" panose="02020603050405020304" pitchFamily="18" charset="0"/>
                </a:rPr>
                <a:t>Bicicleta</a:t>
              </a:r>
            </a:p>
          </p:txBody>
        </p:sp>
      </p:grpSp>
      <p:grpSp>
        <p:nvGrpSpPr>
          <p:cNvPr id="49" name="Group 9">
            <a:extLst>
              <a:ext uri="{FF2B5EF4-FFF2-40B4-BE49-F238E27FC236}">
                <a16:creationId xmlns:a16="http://schemas.microsoft.com/office/drawing/2014/main" id="{D57A6289-ACA1-FAB4-7247-8DE978E7A806}"/>
              </a:ext>
            </a:extLst>
          </p:cNvPr>
          <p:cNvGrpSpPr>
            <a:grpSpLocks/>
          </p:cNvGrpSpPr>
          <p:nvPr/>
        </p:nvGrpSpPr>
        <p:grpSpPr bwMode="auto">
          <a:xfrm>
            <a:off x="2784595" y="5701586"/>
            <a:ext cx="1668463" cy="512763"/>
            <a:chOff x="576" y="3504"/>
            <a:chExt cx="1051" cy="323"/>
          </a:xfrm>
        </p:grpSpPr>
        <p:sp>
          <p:nvSpPr>
            <p:cNvPr id="50" name="AutoShape 10">
              <a:extLst>
                <a:ext uri="{FF2B5EF4-FFF2-40B4-BE49-F238E27FC236}">
                  <a16:creationId xmlns:a16="http://schemas.microsoft.com/office/drawing/2014/main" id="{A78287FA-DCE1-9AFD-47FF-9BA1F8CE6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504"/>
              <a:ext cx="1051" cy="323"/>
            </a:xfrm>
            <a:prstGeom prst="roundRect">
              <a:avLst>
                <a:gd name="adj" fmla="val 30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51" name="Text Box 11">
              <a:extLst>
                <a:ext uri="{FF2B5EF4-FFF2-40B4-BE49-F238E27FC236}">
                  <a16:creationId xmlns:a16="http://schemas.microsoft.com/office/drawing/2014/main" id="{1D94576A-B954-16EE-2F8C-15ED99FC9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105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ts val="200"/>
                </a:spcBef>
                <a:buClrTx/>
                <a:buFontTx/>
                <a:buNone/>
              </a:pPr>
              <a:r>
                <a:rPr lang="es-CO" sz="1600" b="1" dirty="0">
                  <a:latin typeface="Times New Roman" panose="02020603050405020304" pitchFamily="18" charset="0"/>
                </a:rPr>
                <a:t>Bicicleta de Carreras</a:t>
              </a:r>
            </a:p>
          </p:txBody>
        </p:sp>
      </p:grpSp>
      <p:grpSp>
        <p:nvGrpSpPr>
          <p:cNvPr id="52" name="Group 12">
            <a:extLst>
              <a:ext uri="{FF2B5EF4-FFF2-40B4-BE49-F238E27FC236}">
                <a16:creationId xmlns:a16="http://schemas.microsoft.com/office/drawing/2014/main" id="{493A5DA4-9F2C-1F15-470E-AD7843F724CA}"/>
              </a:ext>
            </a:extLst>
          </p:cNvPr>
          <p:cNvGrpSpPr>
            <a:grpSpLocks/>
          </p:cNvGrpSpPr>
          <p:nvPr/>
        </p:nvGrpSpPr>
        <p:grpSpPr bwMode="auto">
          <a:xfrm>
            <a:off x="8651995" y="5625386"/>
            <a:ext cx="1668463" cy="512763"/>
            <a:chOff x="4272" y="3456"/>
            <a:chExt cx="1051" cy="323"/>
          </a:xfrm>
        </p:grpSpPr>
        <p:sp>
          <p:nvSpPr>
            <p:cNvPr id="53" name="AutoShape 13">
              <a:extLst>
                <a:ext uri="{FF2B5EF4-FFF2-40B4-BE49-F238E27FC236}">
                  <a16:creationId xmlns:a16="http://schemas.microsoft.com/office/drawing/2014/main" id="{C9719B13-CA88-891F-E712-3A609387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456"/>
              <a:ext cx="1051" cy="323"/>
            </a:xfrm>
            <a:prstGeom prst="roundRect">
              <a:avLst>
                <a:gd name="adj" fmla="val 30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54" name="Text Box 14">
              <a:extLst>
                <a:ext uri="{FF2B5EF4-FFF2-40B4-BE49-F238E27FC236}">
                  <a16:creationId xmlns:a16="http://schemas.microsoft.com/office/drawing/2014/main" id="{5861CFF0-CE96-71F7-7C4C-7B91440B1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456"/>
              <a:ext cx="105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ts val="200"/>
                </a:spcBef>
                <a:buClrTx/>
                <a:buFontTx/>
                <a:buNone/>
              </a:pPr>
              <a:r>
                <a:rPr lang="es-CO" sz="1600" b="1" dirty="0">
                  <a:latin typeface="Times New Roman" panose="02020603050405020304" pitchFamily="18" charset="0"/>
                </a:rPr>
                <a:t>Bicicleta de Turismo</a:t>
              </a:r>
            </a:p>
          </p:txBody>
        </p:sp>
      </p:grpSp>
      <p:grpSp>
        <p:nvGrpSpPr>
          <p:cNvPr id="55" name="Group 15">
            <a:extLst>
              <a:ext uri="{FF2B5EF4-FFF2-40B4-BE49-F238E27FC236}">
                <a16:creationId xmlns:a16="http://schemas.microsoft.com/office/drawing/2014/main" id="{0A102D71-1FCB-B883-30F5-85489278D76B}"/>
              </a:ext>
            </a:extLst>
          </p:cNvPr>
          <p:cNvGrpSpPr>
            <a:grpSpLocks/>
          </p:cNvGrpSpPr>
          <p:nvPr/>
        </p:nvGrpSpPr>
        <p:grpSpPr bwMode="auto">
          <a:xfrm>
            <a:off x="5680195" y="5853987"/>
            <a:ext cx="1668463" cy="512763"/>
            <a:chOff x="2400" y="3600"/>
            <a:chExt cx="1051" cy="323"/>
          </a:xfrm>
        </p:grpSpPr>
        <p:sp>
          <p:nvSpPr>
            <p:cNvPr id="56" name="AutoShape 16">
              <a:extLst>
                <a:ext uri="{FF2B5EF4-FFF2-40B4-BE49-F238E27FC236}">
                  <a16:creationId xmlns:a16="http://schemas.microsoft.com/office/drawing/2014/main" id="{BFE8CB38-366B-1313-B080-79A219BBA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00"/>
              <a:ext cx="1051" cy="323"/>
            </a:xfrm>
            <a:prstGeom prst="roundRect">
              <a:avLst>
                <a:gd name="adj" fmla="val 306"/>
              </a:avLst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57" name="Text Box 17">
              <a:extLst>
                <a:ext uri="{FF2B5EF4-FFF2-40B4-BE49-F238E27FC236}">
                  <a16:creationId xmlns:a16="http://schemas.microsoft.com/office/drawing/2014/main" id="{B2B7ABCC-73F0-6972-9DA8-23B2865DC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600"/>
              <a:ext cx="105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ts val="200"/>
                </a:spcBef>
                <a:buClrTx/>
                <a:buFontTx/>
                <a:buNone/>
              </a:pPr>
              <a:r>
                <a:rPr lang="es-CO" sz="1600" b="1" dirty="0">
                  <a:latin typeface="Times New Roman" panose="02020603050405020304" pitchFamily="18" charset="0"/>
                </a:rPr>
                <a:t>Bicicleta de Cross</a:t>
              </a:r>
            </a:p>
          </p:txBody>
        </p:sp>
      </p:grpSp>
      <p:sp>
        <p:nvSpPr>
          <p:cNvPr id="58" name="AutoShape 18">
            <a:extLst>
              <a:ext uri="{FF2B5EF4-FFF2-40B4-BE49-F238E27FC236}">
                <a16:creationId xmlns:a16="http://schemas.microsoft.com/office/drawing/2014/main" id="{BCCB5813-1E2A-CAF3-2012-21DAED0D6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195" y="4329981"/>
            <a:ext cx="152400" cy="228600"/>
          </a:xfrm>
          <a:custGeom>
            <a:avLst/>
            <a:gdLst>
              <a:gd name="T0" fmla="*/ 2147483646 w 424"/>
              <a:gd name="T1" fmla="*/ 0 h 636"/>
              <a:gd name="T2" fmla="*/ 2147483646 w 424"/>
              <a:gd name="T3" fmla="*/ 2147483646 h 636"/>
              <a:gd name="T4" fmla="*/ 0 w 424"/>
              <a:gd name="T5" fmla="*/ 2147483646 h 636"/>
              <a:gd name="T6" fmla="*/ 2147483646 w 424"/>
              <a:gd name="T7" fmla="*/ 0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424"/>
              <a:gd name="T13" fmla="*/ 0 h 636"/>
              <a:gd name="T14" fmla="*/ 424 w 424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4" h="636">
                <a:moveTo>
                  <a:pt x="211" y="0"/>
                </a:moveTo>
                <a:lnTo>
                  <a:pt x="423" y="635"/>
                </a:lnTo>
                <a:lnTo>
                  <a:pt x="0" y="635"/>
                </a:lnTo>
                <a:lnTo>
                  <a:pt x="211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59" name="Line 19">
            <a:extLst>
              <a:ext uri="{FF2B5EF4-FFF2-40B4-BE49-F238E27FC236}">
                <a16:creationId xmlns:a16="http://schemas.microsoft.com/office/drawing/2014/main" id="{1E51F2C6-1B13-C91B-CA3F-EA76F19D90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8395" y="4542706"/>
            <a:ext cx="1588" cy="4127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60" name="Line 20">
            <a:extLst>
              <a:ext uri="{FF2B5EF4-FFF2-40B4-BE49-F238E27FC236}">
                <a16:creationId xmlns:a16="http://schemas.microsoft.com/office/drawing/2014/main" id="{2178684F-BCC4-FCBB-ECCE-EB58C56107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77258" y="5201519"/>
            <a:ext cx="1093787" cy="633412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61" name="Line 21">
            <a:extLst>
              <a:ext uri="{FF2B5EF4-FFF2-40B4-BE49-F238E27FC236}">
                <a16:creationId xmlns:a16="http://schemas.microsoft.com/office/drawing/2014/main" id="{E693EE79-425A-F252-C84C-F0B8325115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8395" y="5609506"/>
            <a:ext cx="1588" cy="26035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62" name="Line 22">
            <a:extLst>
              <a:ext uri="{FF2B5EF4-FFF2-40B4-BE49-F238E27FC236}">
                <a16:creationId xmlns:a16="http://schemas.microsoft.com/office/drawing/2014/main" id="{D8DA47EB-37D4-D46E-E79D-F76EAF409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9245" y="5169769"/>
            <a:ext cx="1066800" cy="712787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63" name="AutoShape 23">
            <a:extLst>
              <a:ext uri="{FF2B5EF4-FFF2-40B4-BE49-F238E27FC236}">
                <a16:creationId xmlns:a16="http://schemas.microsoft.com/office/drawing/2014/main" id="{32F4AD66-8B01-BAD7-5273-8E13AD7F6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3108" y="5072931"/>
            <a:ext cx="255587" cy="219075"/>
          </a:xfrm>
          <a:custGeom>
            <a:avLst/>
            <a:gdLst>
              <a:gd name="T0" fmla="*/ 0 w 710"/>
              <a:gd name="T1" fmla="*/ 0 h 609"/>
              <a:gd name="T2" fmla="*/ 2147483646 w 710"/>
              <a:gd name="T3" fmla="*/ 2147483646 h 609"/>
              <a:gd name="T4" fmla="*/ 2147483646 w 710"/>
              <a:gd name="T5" fmla="*/ 2147483646 h 609"/>
              <a:gd name="T6" fmla="*/ 0 w 710"/>
              <a:gd name="T7" fmla="*/ 0 h 609"/>
              <a:gd name="T8" fmla="*/ 0 60000 65536"/>
              <a:gd name="T9" fmla="*/ 0 60000 65536"/>
              <a:gd name="T10" fmla="*/ 0 60000 65536"/>
              <a:gd name="T11" fmla="*/ 0 60000 65536"/>
              <a:gd name="T12" fmla="*/ 0 w 710"/>
              <a:gd name="T13" fmla="*/ 0 h 609"/>
              <a:gd name="T14" fmla="*/ 710 w 710"/>
              <a:gd name="T15" fmla="*/ 609 h 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0" h="609">
                <a:moveTo>
                  <a:pt x="0" y="0"/>
                </a:moveTo>
                <a:lnTo>
                  <a:pt x="709" y="71"/>
                </a:lnTo>
                <a:lnTo>
                  <a:pt x="368" y="608"/>
                </a:lnTo>
                <a:lnTo>
                  <a:pt x="0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64" name="AutoShape 24">
            <a:extLst>
              <a:ext uri="{FF2B5EF4-FFF2-40B4-BE49-F238E27FC236}">
                <a16:creationId xmlns:a16="http://schemas.microsoft.com/office/drawing/2014/main" id="{DF68190F-1405-B64E-5955-253F044D2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970" y="5053881"/>
            <a:ext cx="246063" cy="239713"/>
          </a:xfrm>
          <a:custGeom>
            <a:avLst/>
            <a:gdLst>
              <a:gd name="T0" fmla="*/ 2147483646 w 685"/>
              <a:gd name="T1" fmla="*/ 0 h 665"/>
              <a:gd name="T2" fmla="*/ 2147483646 w 685"/>
              <a:gd name="T3" fmla="*/ 2147483646 h 665"/>
              <a:gd name="T4" fmla="*/ 0 w 685"/>
              <a:gd name="T5" fmla="*/ 2147483646 h 665"/>
              <a:gd name="T6" fmla="*/ 2147483646 w 685"/>
              <a:gd name="T7" fmla="*/ 0 h 665"/>
              <a:gd name="T8" fmla="*/ 0 60000 65536"/>
              <a:gd name="T9" fmla="*/ 0 60000 65536"/>
              <a:gd name="T10" fmla="*/ 0 60000 65536"/>
              <a:gd name="T11" fmla="*/ 0 60000 65536"/>
              <a:gd name="T12" fmla="*/ 0 w 685"/>
              <a:gd name="T13" fmla="*/ 0 h 665"/>
              <a:gd name="T14" fmla="*/ 685 w 685"/>
              <a:gd name="T15" fmla="*/ 665 h 6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" h="665">
                <a:moveTo>
                  <a:pt x="684" y="0"/>
                </a:moveTo>
                <a:lnTo>
                  <a:pt x="428" y="664"/>
                </a:lnTo>
                <a:lnTo>
                  <a:pt x="0" y="194"/>
                </a:lnTo>
                <a:lnTo>
                  <a:pt x="684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65" name="AutoShape 25">
            <a:extLst>
              <a:ext uri="{FF2B5EF4-FFF2-40B4-BE49-F238E27FC236}">
                <a16:creationId xmlns:a16="http://schemas.microsoft.com/office/drawing/2014/main" id="{2814691A-BF7A-F44A-FAF7-77B745298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195" y="5396781"/>
            <a:ext cx="152400" cy="228600"/>
          </a:xfrm>
          <a:custGeom>
            <a:avLst/>
            <a:gdLst>
              <a:gd name="T0" fmla="*/ 2147483646 w 424"/>
              <a:gd name="T1" fmla="*/ 0 h 636"/>
              <a:gd name="T2" fmla="*/ 2147483646 w 424"/>
              <a:gd name="T3" fmla="*/ 2147483646 h 636"/>
              <a:gd name="T4" fmla="*/ 0 w 424"/>
              <a:gd name="T5" fmla="*/ 2147483646 h 636"/>
              <a:gd name="T6" fmla="*/ 2147483646 w 424"/>
              <a:gd name="T7" fmla="*/ 0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424"/>
              <a:gd name="T13" fmla="*/ 0 h 636"/>
              <a:gd name="T14" fmla="*/ 424 w 424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4" h="636">
                <a:moveTo>
                  <a:pt x="211" y="0"/>
                </a:moveTo>
                <a:lnTo>
                  <a:pt x="423" y="635"/>
                </a:lnTo>
                <a:lnTo>
                  <a:pt x="0" y="635"/>
                </a:lnTo>
                <a:lnTo>
                  <a:pt x="211" y="0"/>
                </a:lnTo>
              </a:path>
            </a:pathLst>
          </a:custGeom>
          <a:solidFill>
            <a:srgbClr val="00B8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66" name="Text Box 26">
            <a:extLst>
              <a:ext uri="{FF2B5EF4-FFF2-40B4-BE49-F238E27FC236}">
                <a16:creationId xmlns:a16="http://schemas.microsoft.com/office/drawing/2014/main" id="{E9B13FF3-AC46-7C82-4CAF-CA90EA431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95" y="4177581"/>
            <a:ext cx="20574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lnSpc>
                <a:spcPct val="93000"/>
              </a:lnSpc>
              <a:spcBef>
                <a:spcPts val="1500"/>
              </a:spcBef>
              <a:buClrTx/>
              <a:buFontTx/>
              <a:buNone/>
            </a:pPr>
            <a:r>
              <a:rPr lang="es-CO" sz="2400" b="1" dirty="0">
                <a:solidFill>
                  <a:srgbClr val="0000CC"/>
                </a:solidFill>
                <a:latin typeface="Arial" panose="020B0604020202020204" pitchFamily="34" charset="0"/>
              </a:rPr>
              <a:t>Concepto de</a:t>
            </a:r>
            <a:r>
              <a:rPr lang="es-CO" sz="2400" b="1" dirty="0">
                <a:latin typeface="Arial" panose="020B0604020202020204" pitchFamily="34" charset="0"/>
              </a:rPr>
              <a:t> 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</a:rPr>
              <a:t>Herencia</a:t>
            </a:r>
          </a:p>
        </p:txBody>
      </p:sp>
    </p:spTree>
    <p:extLst>
      <p:ext uri="{BB962C8B-B14F-4D97-AF65-F5344CB8AC3E}">
        <p14:creationId xmlns:p14="http://schemas.microsoft.com/office/powerpoint/2010/main" val="83948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94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80000"/>
              </a:lnSpc>
              <a:spcBef>
                <a:spcPts val="50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de un Modelo de Datos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E21A471A-E852-A06E-902E-E4415F9A56C7}"/>
              </a:ext>
            </a:extLst>
          </p:cNvPr>
          <p:cNvGrpSpPr>
            <a:grpSpLocks/>
          </p:cNvGrpSpPr>
          <p:nvPr/>
        </p:nvGrpSpPr>
        <p:grpSpPr bwMode="auto">
          <a:xfrm>
            <a:off x="2402494" y="1865770"/>
            <a:ext cx="3472643" cy="4111689"/>
            <a:chOff x="624" y="1296"/>
            <a:chExt cx="1768" cy="1915"/>
          </a:xfrm>
          <a:noFill/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98430C44-6CAC-59FF-DD58-1C21B6A99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96"/>
              <a:ext cx="1395" cy="1915"/>
            </a:xfrm>
            <a:prstGeom prst="roundRect">
              <a:avLst>
                <a:gd name="adj" fmla="val 56"/>
              </a:avLst>
            </a:prstGeom>
            <a:grp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62D48DBF-37E8-35E2-F0E7-80FDA081DF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96"/>
              <a:ext cx="1768" cy="1912"/>
              <a:chOff x="624" y="1296"/>
              <a:chExt cx="1768" cy="1912"/>
            </a:xfrm>
            <a:grpFill/>
          </p:grpSpPr>
          <p:sp>
            <p:nvSpPr>
              <p:cNvPr id="9" name="AutoShape 6">
                <a:extLst>
                  <a:ext uri="{FF2B5EF4-FFF2-40B4-BE49-F238E27FC236}">
                    <a16:creationId xmlns:a16="http://schemas.microsoft.com/office/drawing/2014/main" id="{86C4ECE6-AB12-D682-B203-6885CD939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768" cy="1912"/>
              </a:xfrm>
              <a:prstGeom prst="roundRect">
                <a:avLst>
                  <a:gd name="adj" fmla="val 56"/>
                </a:avLst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69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s-CO" dirty="0"/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1C5AE57B-A207-403E-B531-BF084B928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950"/>
                <a:ext cx="1395" cy="60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>
                <a:lvl1pPr>
                  <a:spcBef>
                    <a:spcPts val="6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6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>
                  <a:spcBef>
                    <a:spcPts val="525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1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s-CO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Modelo de 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s-CO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Datos</a:t>
                </a:r>
              </a:p>
            </p:txBody>
          </p:sp>
        </p:grp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9909AC02-3AB4-F963-DD23-D0C7E734334B}"/>
              </a:ext>
            </a:extLst>
          </p:cNvPr>
          <p:cNvGrpSpPr>
            <a:grpSpLocks/>
          </p:cNvGrpSpPr>
          <p:nvPr/>
        </p:nvGrpSpPr>
        <p:grpSpPr bwMode="auto">
          <a:xfrm>
            <a:off x="5126157" y="1833493"/>
            <a:ext cx="5694930" cy="2257098"/>
            <a:chOff x="2392" y="1282"/>
            <a:chExt cx="2787" cy="979"/>
          </a:xfrm>
          <a:noFill/>
        </p:grpSpPr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9024A755-2AA3-F3BF-D3D3-CA64F5411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96"/>
              <a:ext cx="2779" cy="955"/>
            </a:xfrm>
            <a:prstGeom prst="roundRect">
              <a:avLst>
                <a:gd name="adj" fmla="val 102"/>
              </a:avLst>
            </a:prstGeom>
            <a:grp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763ACDB3-8F3C-8C5D-2A10-E5C1295D6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2" y="1282"/>
              <a:ext cx="2784" cy="979"/>
              <a:chOff x="2392" y="1282"/>
              <a:chExt cx="2784" cy="979"/>
            </a:xfrm>
            <a:grpFill/>
          </p:grpSpPr>
          <p:sp>
            <p:nvSpPr>
              <p:cNvPr id="14" name="AutoShape 11">
                <a:extLst>
                  <a:ext uri="{FF2B5EF4-FFF2-40B4-BE49-F238E27FC236}">
                    <a16:creationId xmlns:a16="http://schemas.microsoft.com/office/drawing/2014/main" id="{84F7AADE-DE3E-96B3-9129-0CC7B50C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1296"/>
                <a:ext cx="2776" cy="952"/>
              </a:xfrm>
              <a:prstGeom prst="roundRect">
                <a:avLst>
                  <a:gd name="adj" fmla="val 102"/>
                </a:avLst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69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s-CO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04FB61CC-7D7C-7323-A2BC-D3F498563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2" y="1282"/>
                <a:ext cx="2784" cy="979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>
                <a:lvl1pPr>
                  <a:spcBef>
                    <a:spcPts val="6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6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>
                  <a:spcBef>
                    <a:spcPts val="525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1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s-CO" sz="2400" b="1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Parte Estática – DDL</a:t>
                </a:r>
              </a:p>
              <a:p>
                <a:pPr marL="342900" indent="-342900" algn="just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s-CO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Objetos permitidos (definición de las estructuras que almacenarán los datos)</a:t>
                </a:r>
              </a:p>
              <a:p>
                <a:pPr marL="342900" indent="-342900" algn="just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s-CO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Restricciones (inherentes a los datos y al problema)</a:t>
                </a:r>
              </a:p>
              <a:p>
                <a:pPr marL="342900" indent="-342900" algn="just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s-CO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Procedimientos o funciones que permitan consultar los datos.</a:t>
                </a:r>
              </a:p>
            </p:txBody>
          </p:sp>
        </p:grpSp>
      </p:grpSp>
      <p:grpSp>
        <p:nvGrpSpPr>
          <p:cNvPr id="16" name="Group 13">
            <a:extLst>
              <a:ext uri="{FF2B5EF4-FFF2-40B4-BE49-F238E27FC236}">
                <a16:creationId xmlns:a16="http://schemas.microsoft.com/office/drawing/2014/main" id="{B782C77D-9524-7A9C-0179-E77FA2F67868}"/>
              </a:ext>
            </a:extLst>
          </p:cNvPr>
          <p:cNvGrpSpPr>
            <a:grpSpLocks/>
          </p:cNvGrpSpPr>
          <p:nvPr/>
        </p:nvGrpSpPr>
        <p:grpSpPr bwMode="auto">
          <a:xfrm>
            <a:off x="5142504" y="4057545"/>
            <a:ext cx="5699039" cy="1919913"/>
            <a:chOff x="2400" y="2255"/>
            <a:chExt cx="2786" cy="956"/>
          </a:xfrm>
          <a:noFill/>
        </p:grpSpPr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F40A0425-865C-53C1-D58C-81B60228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2779" cy="955"/>
            </a:xfrm>
            <a:prstGeom prst="roundRect">
              <a:avLst>
                <a:gd name="adj" fmla="val 102"/>
              </a:avLst>
            </a:prstGeom>
            <a:grp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510B6F9B-95BB-226B-335A-F42637B97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255"/>
              <a:ext cx="2786" cy="953"/>
              <a:chOff x="2400" y="2255"/>
              <a:chExt cx="2786" cy="953"/>
            </a:xfrm>
            <a:grpFill/>
          </p:grpSpPr>
          <p:sp>
            <p:nvSpPr>
              <p:cNvPr id="19" name="AutoShape 16">
                <a:extLst>
                  <a:ext uri="{FF2B5EF4-FFF2-40B4-BE49-F238E27FC236}">
                    <a16:creationId xmlns:a16="http://schemas.microsoft.com/office/drawing/2014/main" id="{5732CC89-77D9-415D-6749-D2C345E9C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256"/>
                <a:ext cx="2776" cy="952"/>
              </a:xfrm>
              <a:prstGeom prst="roundRect">
                <a:avLst>
                  <a:gd name="adj" fmla="val 102"/>
                </a:avLst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69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s-CO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BEA227CB-3878-9E2D-F5F6-7D21F67976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0" y="2255"/>
                <a:ext cx="2776" cy="950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ts val="6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6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>
                  <a:spcBef>
                    <a:spcPts val="525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1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s-CO" sz="2400" b="1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Parte Dinámica – DML</a:t>
                </a:r>
              </a:p>
              <a:p>
                <a:pPr marL="342900" indent="-342900" algn="just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s-CO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 lenguaje proporcionado por  el DBMS  para realizar las tareas de consulta, recuperación, actualización, modificación, inserción, borrado  de los datos contenidos en las DBMS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777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256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Modelando la parte Estática</a:t>
            </a:r>
          </a:p>
          <a:p>
            <a:pPr algn="just" eaLnBrk="1" hangingPunct="1">
              <a:lnSpc>
                <a:spcPct val="90000"/>
              </a:lnSpc>
              <a:spcBef>
                <a:spcPts val="400"/>
              </a:spcBef>
              <a:buClr>
                <a:srgbClr val="0000FF"/>
              </a:buClr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permiten todas las estructuras (listas, arreglos, vectores, etc.) pues debe de cumplirse con las restricciones del modelo.</a:t>
            </a:r>
          </a:p>
          <a:p>
            <a:pPr algn="just" eaLnBrk="1" hangingPunct="1">
              <a:lnSpc>
                <a:spcPct val="90000"/>
              </a:lnSpc>
              <a:spcBef>
                <a:spcPts val="400"/>
              </a:spcBef>
              <a:buClr>
                <a:srgbClr val="0000FF"/>
              </a:buClr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sistema permite el manejo de restricciones.</a:t>
            </a:r>
          </a:p>
          <a:p>
            <a:pPr algn="just" eaLnBrk="1" hangingPunct="1">
              <a:lnSpc>
                <a:spcPct val="90000"/>
              </a:lnSpc>
              <a:spcBef>
                <a:spcPts val="400"/>
              </a:spcBef>
              <a:buClr>
                <a:srgbClr val="0000FF"/>
              </a:buClr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usuario puede definir sus propias restricciones.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</a:pPr>
            <a:endParaRPr lang="es-CO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C05F2CE-FC89-014D-AC71-B930B5A011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32122"/>
              </p:ext>
            </p:extLst>
          </p:nvPr>
        </p:nvGraphicFramePr>
        <p:xfrm>
          <a:off x="2209800" y="3082383"/>
          <a:ext cx="7772400" cy="3775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58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</a:rPr>
              <a:t>Modelando la parte Dinámica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Modelaje de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5D6EE936-8CCD-6CDB-B0F6-724298684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5702111"/>
              </p:ext>
            </p:extLst>
          </p:nvPr>
        </p:nvGraphicFramePr>
        <p:xfrm>
          <a:off x="2808811" y="1900564"/>
          <a:ext cx="7413575" cy="3775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26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191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3000"/>
              </a:lnSpc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Formulado por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Peter Pin-Shan Chen 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MIT – en 1976 </a:t>
            </a:r>
          </a:p>
          <a:p>
            <a:pPr algn="just" eaLnBrk="1" hangingPunct="1">
              <a:lnSpc>
                <a:spcPct val="93000"/>
              </a:lnSpc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modelo entidad relación es una herramienta que permite representar de manera simplificada los componentes que participan en un proceso de negocio y el modo en el que estos se relacionan entre sí.</a:t>
            </a:r>
            <a:endParaRPr lang="es-CO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90BBC2B-AB26-3E21-C848-8F40FCD10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876" y="3276599"/>
            <a:ext cx="8077200" cy="26574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4619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8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3000"/>
              </a:lnSpc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</a:rPr>
              <a:t>Modelo de datos que representa un esquema de base de datos mediante entidades y asociaciones.</a:t>
            </a:r>
          </a:p>
          <a:p>
            <a:pPr algn="just" eaLnBrk="1" hangingPunct="1">
              <a:lnSpc>
                <a:spcPct val="93000"/>
              </a:lnSpc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Agrupa la información en entidades o relaciones entre entidades.</a:t>
            </a:r>
          </a:p>
          <a:p>
            <a:pPr algn="just" eaLnBrk="1" hangingPunct="1"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</a:rPr>
              <a:t>Describe una base de datos de una forma sencilla y global.</a:t>
            </a:r>
          </a:p>
          <a:p>
            <a:pPr algn="just" eaLnBrk="1" hangingPunct="1"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</a:rPr>
              <a:t>El modelo E-R ofrece una estructura gráfica de la Base de Datos.</a:t>
            </a:r>
          </a:p>
          <a:p>
            <a:pPr algn="just" eaLnBrk="1" hangingPunct="1"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latin typeface="Arial" panose="020B0604020202020204" pitchFamily="34" charset="0"/>
              </a:rPr>
              <a:t>Se realiza a partir de los requisitos de datos que debe cumplir una base de datos.</a:t>
            </a:r>
          </a:p>
          <a:p>
            <a:pPr algn="just" eaLnBrk="1" hangingPunct="1">
              <a:spcBef>
                <a:spcPts val="8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</a:rPr>
              <a:t>Se parte del hecho de tener una comprensión clara de cuales entidades participan del modelo.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949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79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800"/>
              </a:spcBef>
              <a:buSzPct val="100000"/>
              <a:defRPr/>
            </a:pPr>
            <a:r>
              <a:rPr lang="es-CO" sz="3200" b="1">
                <a:solidFill>
                  <a:srgbClr val="FF0000"/>
                </a:solidFill>
                <a:latin typeface="Arial" panose="020B0604020202020204" pitchFamily="34" charset="0"/>
              </a:rPr>
              <a:t>Entidad</a:t>
            </a:r>
          </a:p>
          <a:p>
            <a:pPr marL="320675" indent="-319088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000" dirty="0">
                <a:solidFill>
                  <a:srgbClr val="080808"/>
                </a:solidFill>
                <a:latin typeface="Arial" panose="020B0604020202020204" pitchFamily="34" charset="0"/>
              </a:rPr>
              <a:t>Objeto del mundo real que puede ser distinguido claramente y es importante para el esquema de Información de la organización.</a:t>
            </a:r>
          </a:p>
          <a:p>
            <a:pPr marL="320675" indent="-319088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000" dirty="0">
                <a:latin typeface="Arial" panose="020B0604020202020204" pitchFamily="34" charset="0"/>
              </a:rPr>
              <a:t>Está Compuesto de ocurrencias de entidad.</a:t>
            </a:r>
          </a:p>
          <a:p>
            <a:pPr marL="320675" indent="-319088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000" dirty="0">
                <a:latin typeface="Arial" panose="020B0604020202020204" pitchFamily="34" charset="0"/>
              </a:rPr>
              <a:t>Es una colección de entidades que comparten los mismos atributos o características. </a:t>
            </a:r>
          </a:p>
          <a:p>
            <a:pPr marL="320675" indent="-319088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000" dirty="0">
                <a:latin typeface="Arial" panose="020B0604020202020204" pitchFamily="34" charset="0"/>
              </a:rPr>
              <a:t>Puede representar un hecho real o regla comercial. </a:t>
            </a:r>
            <a:r>
              <a:rPr lang="es-CO" sz="2000" dirty="0" err="1">
                <a:latin typeface="Arial" panose="020B0604020202020204" pitchFamily="34" charset="0"/>
              </a:rPr>
              <a:t>Ej</a:t>
            </a:r>
            <a:r>
              <a:rPr lang="es-CO" sz="2000" dirty="0">
                <a:latin typeface="Arial" panose="020B0604020202020204" pitchFamily="34" charset="0"/>
              </a:rPr>
              <a:t>: Curso, Deporte, Comisión, Empleado, Inventario,...</a:t>
            </a:r>
          </a:p>
          <a:p>
            <a:pPr marL="320675" indent="-319088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000" dirty="0">
                <a:solidFill>
                  <a:schemeClr val="tx1"/>
                </a:solidFill>
                <a:latin typeface="Arial" panose="020B0604020202020204" pitchFamily="34" charset="0"/>
              </a:rPr>
              <a:t>Ejemplos: </a:t>
            </a:r>
          </a:p>
          <a:p>
            <a:pPr marL="708025" lvl="1" indent="-342900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Arial" panose="020B0604020202020204" pitchFamily="34" charset="0"/>
              <a:buChar char="•"/>
              <a:tabLst>
                <a:tab pos="625475" algn="l"/>
                <a:tab pos="7699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000" dirty="0">
                <a:solidFill>
                  <a:srgbClr val="FF0000"/>
                </a:solidFill>
                <a:latin typeface="Arial" panose="020B0604020202020204" pitchFamily="34" charset="0"/>
              </a:rPr>
              <a:t>Los atletas que participan en los Juegos Olímpicos comparten sus atributos: nombre, número de identificación, edad, peso, categoría...  </a:t>
            </a:r>
          </a:p>
          <a:p>
            <a:pPr marL="708025" lvl="1" indent="-342900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Arial" panose="020B0604020202020204" pitchFamily="34" charset="0"/>
              <a:buChar char="•"/>
              <a:tabLst>
                <a:tab pos="625475" algn="l"/>
                <a:tab pos="7699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000" dirty="0">
                <a:solidFill>
                  <a:srgbClr val="FF0000"/>
                </a:solidFill>
                <a:latin typeface="Arial" panose="020B0604020202020204" pitchFamily="34" charset="0"/>
              </a:rPr>
              <a:t>Todos los países del mundo comparten las características: nombre, continente, área, lengua principal, lengua secundaria, moneda, etc. </a:t>
            </a:r>
          </a:p>
          <a:p>
            <a:pPr marL="287338" indent="-342900" algn="just" eaLnBrk="1" hangingPunct="1">
              <a:lnSpc>
                <a:spcPct val="95000"/>
              </a:lnSpc>
              <a:spcBef>
                <a:spcPts val="4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Ø"/>
              <a:tabLst>
                <a:tab pos="625475" algn="l"/>
                <a:tab pos="7699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000" dirty="0">
                <a:latin typeface="Arial" panose="020B0604020202020204" pitchFamily="34" charset="0"/>
              </a:rPr>
              <a:t>La entidad tipo se representa con un rectángulo.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1404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AutoShape 29">
            <a:extLst>
              <a:ext uri="{FF2B5EF4-FFF2-40B4-BE49-F238E27FC236}">
                <a16:creationId xmlns:a16="http://schemas.microsoft.com/office/drawing/2014/main" id="{A48310E0-070F-FDE7-D102-3E94EF571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251" y="1749143"/>
            <a:ext cx="2074168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AutoShape 29">
            <a:extLst>
              <a:ext uri="{FF2B5EF4-FFF2-40B4-BE49-F238E27FC236}">
                <a16:creationId xmlns:a16="http://schemas.microsoft.com/office/drawing/2014/main" id="{1DFEED20-DFA8-0D5E-670B-D3F0D91F7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451" y="2009234"/>
            <a:ext cx="2074168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AutoShape 28">
            <a:extLst>
              <a:ext uri="{FF2B5EF4-FFF2-40B4-BE49-F238E27FC236}">
                <a16:creationId xmlns:a16="http://schemas.microsoft.com/office/drawing/2014/main" id="{D6350C54-803C-FB69-64DF-90C9AA40A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143" y="1607907"/>
            <a:ext cx="2002160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28">
            <a:extLst>
              <a:ext uri="{FF2B5EF4-FFF2-40B4-BE49-F238E27FC236}">
                <a16:creationId xmlns:a16="http://schemas.microsoft.com/office/drawing/2014/main" id="{8E0055C6-7EEA-0ECC-8AAB-5CA0F29B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233" y="1815255"/>
            <a:ext cx="2002160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16EFFB0-99B4-140E-5D1C-4A44A081C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453" y="4331898"/>
            <a:ext cx="1600200" cy="7620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1B05C6A3-3226-7DB8-1378-A2A817984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966" y="4560498"/>
            <a:ext cx="121920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s-CO" sz="1600" b="1" i="1" dirty="0">
                <a:latin typeface="Arial" panose="020B0604020202020204" pitchFamily="34" charset="0"/>
              </a:rPr>
              <a:t>Empleado</a:t>
            </a:r>
            <a:endParaRPr lang="es-CO" sz="1400" b="1" i="1" dirty="0">
              <a:latin typeface="Arial" panose="020B0604020202020204" pitchFamily="34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8E0DC83-628B-9078-FAA3-1DBC75D5E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853" y="41032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FC0CE479-292B-2F11-0AD6-C7BEFE1D2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853" y="4179498"/>
            <a:ext cx="693116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CC </a:t>
            </a:r>
            <a:r>
              <a:rPr lang="es-CO" sz="1200" dirty="0" err="1">
                <a:latin typeface="Arial" panose="020B0604020202020204" pitchFamily="34" charset="0"/>
              </a:rPr>
              <a:t>Nro</a:t>
            </a:r>
            <a:endParaRPr lang="es-CO" sz="1200" dirty="0">
              <a:latin typeface="Arial" panose="020B0604020202020204" pitchFamily="34" charset="0"/>
            </a:endParaRP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02C44C35-2B0D-4F70-9566-E5C0A65C1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853" y="46366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EDBD7E1F-7D97-4CC8-E20A-46F56039D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853" y="4712898"/>
            <a:ext cx="776472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domicilio</a:t>
            </a: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C281DD3E-C06C-93BE-0B94-FD708E22C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853" y="51700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12DF29F8-0681-6BA2-70B5-8D8F1255E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853" y="5246298"/>
            <a:ext cx="701131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nombre</a:t>
            </a: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328EB524-648A-F138-B93D-F59162AC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453" y="54748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BD52FE8B-C0A2-49ED-E10D-CBCC159E6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453" y="5551098"/>
            <a:ext cx="632202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salario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75E3B0C0-49AE-F36A-C708-9A1D24DDF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453" y="4331898"/>
            <a:ext cx="381000" cy="762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E949BFCF-67CD-C518-40C5-A715AFA95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453" y="4789098"/>
            <a:ext cx="3810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370F2EBB-D257-857E-334B-1644C654CB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3453" y="5004998"/>
            <a:ext cx="381000" cy="3302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F66164BB-6FC4-DB6E-7999-24E62353E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053" y="5093898"/>
            <a:ext cx="76200" cy="3810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51C1C0AC-C01E-6393-53AF-4B26E5930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609" y="5167716"/>
            <a:ext cx="1503362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625"/>
              </a:spcBef>
              <a:buClrTx/>
              <a:buFontTx/>
              <a:buNone/>
              <a:defRPr/>
            </a:pPr>
            <a:r>
              <a:rPr lang="es-CO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Entidades tipo</a:t>
            </a: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153815BA-0405-CDA5-C1D3-9D64EE2F2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653" y="4331898"/>
            <a:ext cx="1600200" cy="7620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25" name="Text Box 18">
            <a:extLst>
              <a:ext uri="{FF2B5EF4-FFF2-40B4-BE49-F238E27FC236}">
                <a16:creationId xmlns:a16="http://schemas.microsoft.com/office/drawing/2014/main" id="{BE9A42E9-02B0-859A-E6F1-0B1BD148A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653" y="4560498"/>
            <a:ext cx="1622425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s-CO" sz="1600" b="1" i="1" dirty="0">
                <a:latin typeface="Arial" panose="020B0604020202020204" pitchFamily="34" charset="0"/>
              </a:rPr>
              <a:t>Departamento</a:t>
            </a:r>
            <a:endParaRPr lang="es-CO" sz="1400" b="1" i="1" dirty="0">
              <a:latin typeface="Arial" panose="020B0604020202020204" pitchFamily="34" charset="0"/>
            </a:endParaRPr>
          </a:p>
        </p:txBody>
      </p:sp>
      <p:sp>
        <p:nvSpPr>
          <p:cNvPr id="26" name="Oval 19">
            <a:extLst>
              <a:ext uri="{FF2B5EF4-FFF2-40B4-BE49-F238E27FC236}">
                <a16:creationId xmlns:a16="http://schemas.microsoft.com/office/drawing/2014/main" id="{37F29A18-4550-EC72-E963-43EEDF91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853" y="42556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27" name="Text Box 20">
            <a:extLst>
              <a:ext uri="{FF2B5EF4-FFF2-40B4-BE49-F238E27FC236}">
                <a16:creationId xmlns:a16="http://schemas.microsoft.com/office/drawing/2014/main" id="{0614613F-0E8D-C7AC-35C9-A345AD62F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9853" y="4331898"/>
            <a:ext cx="632202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código</a:t>
            </a: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140260BA-4ABB-7DA7-EDE0-9044476F1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853" y="47890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51DC0DB2-C39E-593E-166F-D6D3F51D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653" y="4865298"/>
            <a:ext cx="956009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descripción</a:t>
            </a: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5E3F12E8-A8C0-9C31-E866-D7F0EDC00D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27853" y="4471598"/>
            <a:ext cx="381000" cy="1016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ABBB6B9D-EE51-E66A-B2AD-B36E1388C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7853" y="4865298"/>
            <a:ext cx="381000" cy="1524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32" name="Oval 25">
            <a:extLst>
              <a:ext uri="{FF2B5EF4-FFF2-40B4-BE49-F238E27FC236}">
                <a16:creationId xmlns:a16="http://schemas.microsoft.com/office/drawing/2014/main" id="{7AD8BAFC-4961-9DA8-C58E-34DE1C183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053" y="5474898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33" name="Text Box 26">
            <a:extLst>
              <a:ext uri="{FF2B5EF4-FFF2-40B4-BE49-F238E27FC236}">
                <a16:creationId xmlns:a16="http://schemas.microsoft.com/office/drawing/2014/main" id="{3652374E-7C51-BE5A-F4D7-628A87415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478" y="5522523"/>
            <a:ext cx="827768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s-CO" sz="1200" dirty="0">
                <a:latin typeface="Arial" panose="020B0604020202020204" pitchFamily="34" charset="0"/>
              </a:rPr>
              <a:t>ubicación</a:t>
            </a:r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28756737-DFDE-05BA-B4DB-250492A21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0653" y="5093898"/>
            <a:ext cx="76200" cy="3810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35" name="AutoShape 28">
            <a:extLst>
              <a:ext uri="{FF2B5EF4-FFF2-40B4-BE49-F238E27FC236}">
                <a16:creationId xmlns:a16="http://schemas.microsoft.com/office/drawing/2014/main" id="{5F474C62-E503-BCCB-545E-C2B8DA748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994" y="2031155"/>
            <a:ext cx="2002160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" name="AutoShape 29">
            <a:extLst>
              <a:ext uri="{FF2B5EF4-FFF2-40B4-BE49-F238E27FC236}">
                <a16:creationId xmlns:a16="http://schemas.microsoft.com/office/drawing/2014/main" id="{B7179A1E-8CF3-C158-927F-EA1169CE7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1" y="2209693"/>
            <a:ext cx="2074168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D185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Diseño e Investigación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Edificio 331 </a:t>
            </a:r>
            <a:r>
              <a:rPr lang="es-CO" sz="1500" dirty="0" err="1">
                <a:solidFill>
                  <a:srgbClr val="FFFFFF"/>
                </a:solidFill>
                <a:latin typeface="Arial" panose="020B0604020202020204" pitchFamily="34" charset="0"/>
              </a:rPr>
              <a:t>Of</a:t>
            </a: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. 2113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55310E06-B6CE-6F0E-9B57-C2BE3245F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691" y="3434961"/>
            <a:ext cx="2265362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625"/>
              </a:spcBef>
              <a:buClrTx/>
              <a:buFontTx/>
              <a:buNone/>
              <a:defRPr/>
            </a:pPr>
            <a:r>
              <a:rPr lang="es-CO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Ocurrencias de la entidad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A51C51EC-1BAD-4ECD-3572-181A5B360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041" y="5666986"/>
            <a:ext cx="1219200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625"/>
              </a:spcBef>
              <a:buClrTx/>
              <a:buFontTx/>
              <a:buNone/>
              <a:defRPr/>
            </a:pPr>
            <a:r>
              <a:rPr lang="es-CO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Atributos</a:t>
            </a:r>
            <a:endParaRPr lang="es-CO" sz="1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F13E0641-09C6-1CC3-8CFB-383B72BFC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755" y="2216533"/>
            <a:ext cx="2002160" cy="120736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169978211586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Cl 80 No. 5-11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Juanita </a:t>
            </a:r>
            <a:r>
              <a:rPr lang="es-CO" sz="1500" dirty="0" err="1">
                <a:solidFill>
                  <a:srgbClr val="FFFFFF"/>
                </a:solidFill>
                <a:latin typeface="Arial" panose="020B0604020202020204" pitchFamily="34" charset="0"/>
              </a:rPr>
              <a:t>Valdéz</a:t>
            </a:r>
            <a:endParaRPr lang="es-CO" sz="15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 dirty="0">
                <a:solidFill>
                  <a:srgbClr val="FFFFFF"/>
                </a:solidFill>
                <a:latin typeface="Arial" panose="020B0604020202020204" pitchFamily="34" charset="0"/>
              </a:rPr>
              <a:t>$1’468.500</a:t>
            </a:r>
          </a:p>
        </p:txBody>
      </p:sp>
    </p:spTree>
    <p:extLst>
      <p:ext uri="{BB962C8B-B14F-4D97-AF65-F5344CB8AC3E}">
        <p14:creationId xmlns:p14="http://schemas.microsoft.com/office/powerpoint/2010/main" val="314306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800"/>
              </a:spcBef>
              <a:buSzPct val="100000"/>
              <a:defRPr/>
            </a:pPr>
            <a:r>
              <a:rPr lang="es-CO" sz="3200" b="1">
                <a:solidFill>
                  <a:srgbClr val="FF0000"/>
                </a:solidFill>
                <a:latin typeface="Arial" panose="020B0604020202020204" pitchFamily="34" charset="0"/>
              </a:rPr>
              <a:t>Entidad</a:t>
            </a:r>
          </a:p>
          <a:p>
            <a:pPr marL="0" indent="1588" algn="just" eaLnBrk="1" hangingPunct="1">
              <a:spcBef>
                <a:spcPts val="800"/>
              </a:spcBef>
              <a:buSzPct val="100000"/>
              <a:tabLst>
                <a:tab pos="769938" algn="l"/>
                <a:tab pos="8080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Cuando una entidad participa en una relación puede adquirir un papel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fuerte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 o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débil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. Una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entidad débil 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es aquella que no puede existir sin participar en la relación, es decir, aquella que no puede ser unívocamente identificada solamente por sus atributos. Una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entidad fuerte 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(también conocida como entidad regular) es aquella que sí puede ser identificada unívocamente. </a:t>
            </a:r>
          </a:p>
          <a:p>
            <a:pPr marL="0" indent="1588" algn="just" eaLnBrk="1" hangingPunct="1">
              <a:spcBef>
                <a:spcPts val="800"/>
              </a:spcBef>
              <a:buSzPct val="100000"/>
              <a:tabLst>
                <a:tab pos="769938" algn="l"/>
                <a:tab pos="8080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En los casos en que se requiera, se puede dar que una entidad fuerte "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preste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" algunos de sus atributos a una entidad débil para que, esta última, se pueda identificar. </a:t>
            </a:r>
          </a:p>
          <a:p>
            <a:pPr marL="0" indent="1588" algn="just" eaLnBrk="1" hangingPunct="1">
              <a:spcBef>
                <a:spcPts val="800"/>
              </a:spcBef>
              <a:buSzPct val="100000"/>
              <a:tabLst>
                <a:tab pos="769938" algn="l"/>
                <a:tab pos="808038" algn="l"/>
                <a:tab pos="1219200" algn="l"/>
                <a:tab pos="1668463" algn="l"/>
                <a:tab pos="2117725" algn="l"/>
                <a:tab pos="2566988" algn="l"/>
                <a:tab pos="3016250" algn="l"/>
                <a:tab pos="3465513" algn="l"/>
                <a:tab pos="3914775" algn="l"/>
                <a:tab pos="4364038" algn="l"/>
                <a:tab pos="4813300" algn="l"/>
                <a:tab pos="5262563" algn="l"/>
                <a:tab pos="5711825" algn="l"/>
                <a:tab pos="6161088" algn="l"/>
                <a:tab pos="6610350" algn="l"/>
                <a:tab pos="7059613" algn="l"/>
                <a:tab pos="7508875" algn="l"/>
                <a:tab pos="7958138" algn="l"/>
                <a:tab pos="8407400" algn="l"/>
                <a:tab pos="8856663" algn="l"/>
                <a:tab pos="9305925" algn="l"/>
              </a:tabLst>
              <a:defRPr/>
            </a:pP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Las entidades débiles se representan mediante un doble rectángulo, es decir, un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rectángulo con doble línea</a:t>
            </a:r>
            <a:r>
              <a:rPr 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866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371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3000"/>
              </a:lnSpc>
              <a:spcBef>
                <a:spcPts val="200"/>
              </a:spcBef>
              <a:buSzPct val="100000"/>
              <a:defRPr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</a:rPr>
              <a:t>Relación</a:t>
            </a:r>
          </a:p>
          <a:p>
            <a:pPr marL="279400" indent="-277813" algn="just" eaLnBrk="1" hangingPunct="1">
              <a:spcBef>
                <a:spcPts val="2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relación es una asociación entre ocurrencias de diferentes entidades (o la misma).</a:t>
            </a:r>
          </a:p>
          <a:p>
            <a:pPr marL="279400" indent="-277813" algn="just" eaLnBrk="1" hangingPunct="1">
              <a:spcBef>
                <a:spcPts val="2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 tener atributos propios</a:t>
            </a:r>
          </a:p>
          <a:p>
            <a:pPr marL="279400" indent="-277813" algn="just" eaLnBrk="1" hangingPunct="1">
              <a:spcBef>
                <a:spcPts val="2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entidad 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estudiante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puede asociarse con la entidad 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medio de la relación </a:t>
            </a:r>
            <a:r>
              <a:rPr lang="es-CO" sz="2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matrícula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9400" indent="-277813" algn="just" eaLnBrk="1" hangingPunct="1">
              <a:spcBef>
                <a:spcPts val="2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en las entidades, se debe distinguir entre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tipo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instancia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(u ocurrencia) de la relación. Ejemplo: “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Andrés López está matriculado en el curso Bases de Datos I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</a:p>
          <a:p>
            <a:pPr marL="279400" indent="-277813" algn="just" eaLnBrk="1" hangingPunct="1">
              <a:spcBef>
                <a:spcPts val="2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Gráficamente una relación se representa con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conectan entidades tipo por medio de un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rombo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9F2D67CB-2E8C-158E-6C00-08BB245E20D1}"/>
              </a:ext>
            </a:extLst>
          </p:cNvPr>
          <p:cNvGrpSpPr>
            <a:grpSpLocks/>
          </p:cNvGrpSpPr>
          <p:nvPr/>
        </p:nvGrpSpPr>
        <p:grpSpPr bwMode="auto">
          <a:xfrm>
            <a:off x="2991778" y="5676181"/>
            <a:ext cx="1820863" cy="677862"/>
            <a:chOff x="576" y="3349"/>
            <a:chExt cx="1147" cy="427"/>
          </a:xfrm>
        </p:grpSpPr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E34FA4EA-3539-7052-4177-0E40BDD7A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49"/>
              <a:ext cx="1147" cy="427"/>
            </a:xfrm>
            <a:prstGeom prst="roundRect">
              <a:avLst>
                <a:gd name="adj" fmla="val 231"/>
              </a:avLst>
            </a:prstGeom>
            <a:solidFill>
              <a:srgbClr val="D7FFEB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373929B-F896-BEF2-43D5-17896D53D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49"/>
              <a:ext cx="1144" cy="424"/>
              <a:chOff x="576" y="3349"/>
              <a:chExt cx="1144" cy="424"/>
            </a:xfrm>
          </p:grpSpPr>
          <p:sp>
            <p:nvSpPr>
              <p:cNvPr id="8" name="AutoShape 8">
                <a:extLst>
                  <a:ext uri="{FF2B5EF4-FFF2-40B4-BE49-F238E27FC236}">
                    <a16:creationId xmlns:a16="http://schemas.microsoft.com/office/drawing/2014/main" id="{2544B555-513A-9C09-25E9-D4339B2DA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49"/>
                <a:ext cx="1144" cy="424"/>
              </a:xfrm>
              <a:prstGeom prst="roundRect">
                <a:avLst>
                  <a:gd name="adj" fmla="val 231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69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s-CO"/>
              </a:p>
            </p:txBody>
          </p:sp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CDF14961-044F-65B6-0E33-2EB9BF18BD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435"/>
                <a:ext cx="11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ts val="6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6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>
                  <a:spcBef>
                    <a:spcPts val="525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1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GB" sz="2000">
                    <a:latin typeface="Arial" panose="020B0604020202020204" pitchFamily="34" charset="0"/>
                  </a:rPr>
                  <a:t>Curso</a:t>
                </a:r>
              </a:p>
            </p:txBody>
          </p:sp>
        </p:grp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2E4D75-72C7-A926-0FC1-B42B912D4987}"/>
              </a:ext>
            </a:extLst>
          </p:cNvPr>
          <p:cNvGrpSpPr>
            <a:grpSpLocks/>
          </p:cNvGrpSpPr>
          <p:nvPr/>
        </p:nvGrpSpPr>
        <p:grpSpPr bwMode="auto">
          <a:xfrm>
            <a:off x="8478178" y="5676181"/>
            <a:ext cx="1744663" cy="677862"/>
            <a:chOff x="4032" y="3349"/>
            <a:chExt cx="1099" cy="427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31C4BFF3-DE38-E766-8B63-238155901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49"/>
              <a:ext cx="1099" cy="427"/>
            </a:xfrm>
            <a:prstGeom prst="roundRect">
              <a:avLst>
                <a:gd name="adj" fmla="val 231"/>
              </a:avLst>
            </a:prstGeom>
            <a:solidFill>
              <a:srgbClr val="D7FFEB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F3B8EE7-85AC-096B-99BA-3154F0C4D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3349"/>
              <a:ext cx="1096" cy="424"/>
              <a:chOff x="4032" y="3349"/>
              <a:chExt cx="1096" cy="424"/>
            </a:xfrm>
          </p:grpSpPr>
          <p:sp>
            <p:nvSpPr>
              <p:cNvPr id="13" name="AutoShape 13">
                <a:extLst>
                  <a:ext uri="{FF2B5EF4-FFF2-40B4-BE49-F238E27FC236}">
                    <a16:creationId xmlns:a16="http://schemas.microsoft.com/office/drawing/2014/main" id="{0C2F157B-1C09-CA10-280C-09615D4ED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3349"/>
                <a:ext cx="1096" cy="424"/>
              </a:xfrm>
              <a:prstGeom prst="roundRect">
                <a:avLst>
                  <a:gd name="adj" fmla="val 231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69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s-CO"/>
              </a:p>
            </p:txBody>
          </p:sp>
          <p:sp>
            <p:nvSpPr>
              <p:cNvPr id="14" name="Text Box 14">
                <a:extLst>
                  <a:ext uri="{FF2B5EF4-FFF2-40B4-BE49-F238E27FC236}">
                    <a16:creationId xmlns:a16="http://schemas.microsoft.com/office/drawing/2014/main" id="{FBD2E630-79BF-3AB8-762B-74C4627E84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435"/>
                <a:ext cx="10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ts val="6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6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>
                  <a:spcBef>
                    <a:spcPts val="525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1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000">
                    <a:solidFill>
                      <a:srgbClr val="000000"/>
                    </a:solidFill>
                    <a:latin typeface="Constantia" panose="02030602050306030303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 algn="ctr" eaLnBrk="1" hangingPunct="1">
                  <a:lnSpc>
                    <a:spcPct val="9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GB" sz="2000">
                    <a:latin typeface="Arial" panose="020B0604020202020204" pitchFamily="34" charset="0"/>
                  </a:rPr>
                  <a:t>Estudiante</a:t>
                </a:r>
              </a:p>
            </p:txBody>
          </p:sp>
        </p:grp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1761C9A0-F6F5-ECA5-DEA3-D2DA302C5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8778" y="5693643"/>
            <a:ext cx="1979613" cy="72866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953A121-4D17-28CD-AEC6-548FE5A52AD8}"/>
              </a:ext>
            </a:extLst>
          </p:cNvPr>
          <p:cNvGrpSpPr>
            <a:grpSpLocks/>
          </p:cNvGrpSpPr>
          <p:nvPr/>
        </p:nvGrpSpPr>
        <p:grpSpPr bwMode="auto">
          <a:xfrm>
            <a:off x="5925478" y="5847631"/>
            <a:ext cx="1450975" cy="396875"/>
            <a:chOff x="2424" y="3457"/>
            <a:chExt cx="914" cy="250"/>
          </a:xfrm>
        </p:grpSpPr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DAB205B3-485C-F7BB-4E4A-BACF98F6B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3522"/>
              <a:ext cx="914" cy="119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C67238B9-AAE5-F28A-9863-60AEEBBEA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" y="3457"/>
              <a:ext cx="9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>
                  <a:latin typeface="Times New Roman" panose="02020603050405020304" pitchFamily="18" charset="0"/>
                </a:rPr>
                <a:t>matricula</a:t>
              </a:r>
            </a:p>
          </p:txBody>
        </p:sp>
      </p:grpSp>
      <p:sp>
        <p:nvSpPr>
          <p:cNvPr id="19" name="Line 19">
            <a:extLst>
              <a:ext uri="{FF2B5EF4-FFF2-40B4-BE49-F238E27FC236}">
                <a16:creationId xmlns:a16="http://schemas.microsoft.com/office/drawing/2014/main" id="{4201172F-BB2C-250C-9296-18930568A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0578" y="6057181"/>
            <a:ext cx="8382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67B9817D-3094-0631-111C-1DC57B17F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9978" y="6057181"/>
            <a:ext cx="8382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1650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05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3000"/>
              </a:lnSpc>
              <a:spcBef>
                <a:spcPts val="800"/>
              </a:spcBef>
              <a:buClrTx/>
              <a:buFontTx/>
              <a:buNone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</a:rPr>
              <a:t>Atributo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entidades y las relaciones tienen propiedades que pueden ser descritas como parejas atributo-valor. Ejemplo: </a:t>
            </a:r>
            <a:r>
              <a:rPr lang="es-CO" sz="23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nombreCurso</a:t>
            </a:r>
            <a:r>
              <a:rPr lang="es-CO" sz="23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puede ser un atributo de </a:t>
            </a:r>
            <a:r>
              <a:rPr lang="es-CO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es-CO" sz="23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“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r>
              <a:rPr lang="es-CO" sz="23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el valor de dicho atributo.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Es una característica de interés o un hecho sobre una entidad o sobre una relación. Los atributos representan las propiedades básicas de las entidades y de las relaciones.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atributos definen las propiedades de una entidad, basados en un dominio (conjunto de valores posibles que puede tomar)</a:t>
            </a:r>
            <a:r>
              <a:rPr lang="ar-SA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‏</a:t>
            </a:r>
            <a:r>
              <a:rPr lang="es-CO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¿Qué sucede si todos los valores de un atributo son diferentes?</a:t>
            </a:r>
          </a:p>
          <a:p>
            <a:pPr algn="just"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atributos pueden ser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</a:t>
            </a:r>
            <a:r>
              <a:rPr lang="es-CO" sz="23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agrupados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"/>
            </a:pP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Un atributo simple debe contener valores atómicos.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7595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0FE98038-9665-CBFA-1F2F-7523FF3B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589" y="1806606"/>
            <a:ext cx="16764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0D196746-DF51-2017-26CB-6DF50877E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251" y="2035206"/>
            <a:ext cx="13033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1D6CA507-6AE8-4418-A01B-7B23D780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289" y="1806606"/>
            <a:ext cx="17526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07BA6BF3-9AB9-55EE-EA6C-7B39B6470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9789" y="2035206"/>
            <a:ext cx="1600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Producto</a:t>
            </a:r>
          </a:p>
        </p:txBody>
      </p:sp>
      <p:sp>
        <p:nvSpPr>
          <p:cNvPr id="37" name="Line 8">
            <a:extLst>
              <a:ext uri="{FF2B5EF4-FFF2-40B4-BE49-F238E27FC236}">
                <a16:creationId xmlns:a16="http://schemas.microsoft.com/office/drawing/2014/main" id="{94FD85BA-24B3-0372-99ED-69CBF0546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9801" y="2262218"/>
            <a:ext cx="792163" cy="158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26229A7E-C89E-88D5-94F1-971AE97407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6651" y="2244756"/>
            <a:ext cx="908050" cy="17462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61C156AF-8B53-BC59-DE7F-AE74EA23A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676" y="1254156"/>
            <a:ext cx="67818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400">
                <a:latin typeface="Arial" panose="020B0604020202020204" pitchFamily="34" charset="0"/>
              </a:rPr>
              <a:t>Una relación también puede tener atributos:</a:t>
            </a:r>
          </a:p>
        </p:txBody>
      </p:sp>
      <p:sp>
        <p:nvSpPr>
          <p:cNvPr id="40" name="Oval 11">
            <a:extLst>
              <a:ext uri="{FF2B5EF4-FFF2-40B4-BE49-F238E27FC236}">
                <a16:creationId xmlns:a16="http://schemas.microsoft.com/office/drawing/2014/main" id="{55CCF868-1B87-7C3F-E661-F3FBEE7D2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589" y="2981356"/>
            <a:ext cx="1223962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1" name="Text Box 12">
            <a:extLst>
              <a:ext uri="{FF2B5EF4-FFF2-40B4-BE49-F238E27FC236}">
                <a16:creationId xmlns:a16="http://schemas.microsoft.com/office/drawing/2014/main" id="{A3D7F601-0B7B-B508-2559-DEA776F6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8951" y="3054381"/>
            <a:ext cx="5556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fecha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50391A9B-BE49-293A-A10F-5BC4671C6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589" y="2694018"/>
            <a:ext cx="431800" cy="28733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3" name="Text Box 14">
            <a:extLst>
              <a:ext uri="{FF2B5EF4-FFF2-40B4-BE49-F238E27FC236}">
                <a16:creationId xmlns:a16="http://schemas.microsoft.com/office/drawing/2014/main" id="{3D6A3464-3BF1-EC28-EF46-34A286AD3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2726" y="3549681"/>
            <a:ext cx="67818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300" b="1">
                <a:latin typeface="Arial" panose="020B0604020202020204" pitchFamily="34" charset="0"/>
              </a:rPr>
              <a:t>Rol o papel de cada ocurrencia</a:t>
            </a:r>
            <a:r>
              <a:rPr lang="en-GB" sz="23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6EFC7E8C-4C0B-0BC2-1C8E-D17FA9EBF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801" y="4724431"/>
            <a:ext cx="1717675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5" name="Text Box 16">
            <a:extLst>
              <a:ext uri="{FF2B5EF4-FFF2-40B4-BE49-F238E27FC236}">
                <a16:creationId xmlns:a16="http://schemas.microsoft.com/office/drawing/2014/main" id="{82A2F60E-DB8E-5D7E-CEAF-B89E8F9CC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226" y="4892706"/>
            <a:ext cx="13033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Empleado</a:t>
            </a:r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E9943E9A-C804-1DB1-41B0-852566864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4239" y="5126068"/>
            <a:ext cx="838200" cy="1588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7" name="AutoShape 18">
            <a:extLst>
              <a:ext uri="{FF2B5EF4-FFF2-40B4-BE49-F238E27FC236}">
                <a16:creationId xmlns:a16="http://schemas.microsoft.com/office/drawing/2014/main" id="{B89EF4CE-2B50-71FE-43C6-2FF88EEC9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401" y="4765706"/>
            <a:ext cx="1871663" cy="728662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48" name="Group 19">
            <a:extLst>
              <a:ext uri="{FF2B5EF4-FFF2-40B4-BE49-F238E27FC236}">
                <a16:creationId xmlns:a16="http://schemas.microsoft.com/office/drawing/2014/main" id="{6CB5DA21-81E4-83C8-91E9-C4322AF04061}"/>
              </a:ext>
            </a:extLst>
          </p:cNvPr>
          <p:cNvGrpSpPr>
            <a:grpSpLocks/>
          </p:cNvGrpSpPr>
          <p:nvPr/>
        </p:nvGrpSpPr>
        <p:grpSpPr bwMode="auto">
          <a:xfrm>
            <a:off x="5633739" y="4902231"/>
            <a:ext cx="1449387" cy="396875"/>
            <a:chOff x="2290" y="2790"/>
            <a:chExt cx="913" cy="250"/>
          </a:xfrm>
        </p:grpSpPr>
        <p:sp>
          <p:nvSpPr>
            <p:cNvPr id="49" name="AutoShape 20">
              <a:extLst>
                <a:ext uri="{FF2B5EF4-FFF2-40B4-BE49-F238E27FC236}">
                  <a16:creationId xmlns:a16="http://schemas.microsoft.com/office/drawing/2014/main" id="{3874A471-2C3A-56C3-A3ED-C0512F21D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854"/>
              <a:ext cx="913" cy="120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883927EE-6F9C-C991-ED3C-FE724E752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790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>
                  <a:latin typeface="Times New Roman" panose="02020603050405020304" pitchFamily="18" charset="0"/>
                </a:rPr>
                <a:t>esJefeDe</a:t>
              </a:r>
            </a:p>
          </p:txBody>
        </p:sp>
      </p:grpSp>
      <p:sp>
        <p:nvSpPr>
          <p:cNvPr id="51" name="Line 22">
            <a:extLst>
              <a:ext uri="{FF2B5EF4-FFF2-40B4-BE49-F238E27FC236}">
                <a16:creationId xmlns:a16="http://schemas.microsoft.com/office/drawing/2014/main" id="{30C562DF-72B2-EB6F-D2FC-6AD9D9BB8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639" y="4189443"/>
            <a:ext cx="2592387" cy="158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690878AA-B57F-281C-379E-72C1E76583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0639" y="4183093"/>
            <a:ext cx="0" cy="54133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B75A62C4-AA06-5CD6-4C57-911EED47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3026" y="4189443"/>
            <a:ext cx="1588" cy="576263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4" name="Text Box 25">
            <a:extLst>
              <a:ext uri="{FF2B5EF4-FFF2-40B4-BE49-F238E27FC236}">
                <a16:creationId xmlns:a16="http://schemas.microsoft.com/office/drawing/2014/main" id="{5AE47FC6-D393-E9D7-2022-97F882F6C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701" y="5126068"/>
            <a:ext cx="42703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jefe</a:t>
            </a:r>
          </a:p>
        </p:txBody>
      </p:sp>
      <p:sp>
        <p:nvSpPr>
          <p:cNvPr id="55" name="Text Box 26">
            <a:extLst>
              <a:ext uri="{FF2B5EF4-FFF2-40B4-BE49-F238E27FC236}">
                <a16:creationId xmlns:a16="http://schemas.microsoft.com/office/drawing/2014/main" id="{D2D39F80-6426-3B1F-B6C5-9190863D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776" y="4189443"/>
            <a:ext cx="102393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subordinado</a:t>
            </a:r>
          </a:p>
        </p:txBody>
      </p:sp>
      <p:sp>
        <p:nvSpPr>
          <p:cNvPr id="56" name="Text Box 27">
            <a:extLst>
              <a:ext uri="{FF2B5EF4-FFF2-40B4-BE49-F238E27FC236}">
                <a16:creationId xmlns:a16="http://schemas.microsoft.com/office/drawing/2014/main" id="{9E449F8A-CDE2-A0D6-BA80-7DB794B74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876" y="5886481"/>
            <a:ext cx="85693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300">
                <a:latin typeface="Arial" panose="020B0604020202020204" pitchFamily="34" charset="0"/>
              </a:rPr>
              <a:t>El </a:t>
            </a:r>
            <a:r>
              <a:rPr lang="es-CO" sz="2300" b="1">
                <a:solidFill>
                  <a:srgbClr val="FF0000"/>
                </a:solidFill>
                <a:latin typeface="Arial" panose="020B0604020202020204" pitchFamily="34" charset="0"/>
              </a:rPr>
              <a:t>Grado</a:t>
            </a:r>
            <a:r>
              <a:rPr lang="es-CO" sz="2300">
                <a:latin typeface="Arial" panose="020B0604020202020204" pitchFamily="34" charset="0"/>
              </a:rPr>
              <a:t> de la relación es el </a:t>
            </a:r>
            <a:r>
              <a:rPr lang="es-CO" sz="2300" i="1">
                <a:solidFill>
                  <a:srgbClr val="0000FF"/>
                </a:solidFill>
                <a:latin typeface="Arial" panose="020B0604020202020204" pitchFamily="34" charset="0"/>
              </a:rPr>
              <a:t>número de entidades que relaciona</a:t>
            </a:r>
          </a:p>
        </p:txBody>
      </p:sp>
      <p:sp>
        <p:nvSpPr>
          <p:cNvPr id="57" name="AutoShape 28">
            <a:extLst>
              <a:ext uri="{FF2B5EF4-FFF2-40B4-BE49-F238E27FC236}">
                <a16:creationId xmlns:a16="http://schemas.microsoft.com/office/drawing/2014/main" id="{BCA07149-B65B-E7B8-6257-99E367C58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026" y="1887568"/>
            <a:ext cx="1697038" cy="73501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58" name="Group 29">
            <a:extLst>
              <a:ext uri="{FF2B5EF4-FFF2-40B4-BE49-F238E27FC236}">
                <a16:creationId xmlns:a16="http://schemas.microsoft.com/office/drawing/2014/main" id="{52444558-A07A-7431-C9E7-960DCAB697FC}"/>
              </a:ext>
            </a:extLst>
          </p:cNvPr>
          <p:cNvGrpSpPr>
            <a:grpSpLocks/>
          </p:cNvGrpSpPr>
          <p:nvPr/>
        </p:nvGrpSpPr>
        <p:grpSpPr bwMode="auto">
          <a:xfrm>
            <a:off x="5833764" y="2038381"/>
            <a:ext cx="1039812" cy="366712"/>
            <a:chOff x="2426" y="1157"/>
            <a:chExt cx="655" cy="231"/>
          </a:xfrm>
        </p:grpSpPr>
        <p:sp>
          <p:nvSpPr>
            <p:cNvPr id="59" name="AutoShape 30">
              <a:extLst>
                <a:ext uri="{FF2B5EF4-FFF2-40B4-BE49-F238E27FC236}">
                  <a16:creationId xmlns:a16="http://schemas.microsoft.com/office/drawing/2014/main" id="{782A7F58-4149-814C-96DF-7A33BA08D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212"/>
              <a:ext cx="655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60" name="Text Box 31">
              <a:extLst>
                <a:ext uri="{FF2B5EF4-FFF2-40B4-BE49-F238E27FC236}">
                  <a16:creationId xmlns:a16="http://schemas.microsoft.com/office/drawing/2014/main" id="{57F2B083-C796-1A64-FB97-BAF5E2552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157"/>
              <a:ext cx="6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800" i="1">
                  <a:latin typeface="Times New Roman" panose="02020603050405020304" pitchFamily="18" charset="0"/>
                </a:rPr>
                <a:t>compra</a:t>
              </a:r>
            </a:p>
          </p:txBody>
        </p:sp>
      </p:grpSp>
      <p:sp>
        <p:nvSpPr>
          <p:cNvPr id="61" name="AutoShape 32">
            <a:extLst>
              <a:ext uri="{FF2B5EF4-FFF2-40B4-BE49-F238E27FC236}">
                <a16:creationId xmlns:a16="http://schemas.microsoft.com/office/drawing/2014/main" id="{1FCD2234-C1A1-4C01-3983-61D731A01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451" y="1816131"/>
            <a:ext cx="2016125" cy="877887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264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es-CO" sz="3200" b="1">
                <a:solidFill>
                  <a:srgbClr val="FF0000"/>
                </a:solidFill>
                <a:latin typeface="AntigoniBd" pitchFamily="32" charset="0"/>
              </a:rPr>
              <a:t>Cardinalidad</a:t>
            </a:r>
          </a:p>
          <a:p>
            <a:pPr algn="just" eaLnBrk="1" hangingPunct="1">
              <a:spcBef>
                <a:spcPts val="0"/>
              </a:spcBef>
              <a:spcAft>
                <a:spcPts val="200"/>
              </a:spcAft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Se refiere al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máximo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de ocurrencias, de una entidad tipo, que pueden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asociarse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con una instancia simple de otra entidad tipo.</a:t>
            </a:r>
          </a:p>
          <a:p>
            <a:pPr marL="342900" indent="-342900" eaLnBrk="1" hangingPunct="1">
              <a:spcBef>
                <a:spcPts val="0"/>
              </a:spcBef>
              <a:spcAft>
                <a:spcPts val="200"/>
              </a:spcAft>
              <a:buClrTx/>
              <a:buFont typeface="Wingdings" panose="05000000000000000000" pitchFamily="2" charset="2"/>
              <a:buChar char="Ø"/>
            </a:pPr>
            <a:r>
              <a:rPr lang="es-CO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Máxima - 1:1, 1:N, N:1, N:M</a:t>
            </a:r>
          </a:p>
          <a:p>
            <a:pPr marL="342900" indent="-342900" eaLnBrk="1" hangingPunct="1">
              <a:spcBef>
                <a:spcPts val="0"/>
              </a:spcBef>
              <a:spcAft>
                <a:spcPts val="200"/>
              </a:spcAft>
              <a:buClrTx/>
              <a:buFont typeface="Wingdings" panose="05000000000000000000" pitchFamily="2" charset="2"/>
              <a:buChar char="Ø"/>
            </a:pPr>
            <a:r>
              <a:rPr lang="es-CO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Mínima - 0:0, 1:0, 0:1, 1:1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9EC638-89E7-9AA8-D3CC-0B6ADBF17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909" y="3754005"/>
            <a:ext cx="1641475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977FE0A-08D5-1EE4-44D1-B3E1A6BB4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572" y="3982605"/>
            <a:ext cx="13033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s-CO" sz="1800" b="1" i="1" dirty="0">
                <a:latin typeface="Arial" panose="020B0604020202020204" pitchFamily="34" charset="0"/>
              </a:rPr>
              <a:t>Empleado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91948AE-519A-93E3-090B-377BA71E5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272" y="3771468"/>
            <a:ext cx="19050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97AC88AC-EA27-E77A-E9DD-69ECB6E90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109" y="3982605"/>
            <a:ext cx="1752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s-CO" sz="1800" b="1" i="1" dirty="0">
                <a:latin typeface="Arial" panose="020B0604020202020204" pitchFamily="34" charset="0"/>
              </a:rPr>
              <a:t>Departamento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524E4C0-4ACD-97A2-3A3A-AA02583E0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4384" y="4203268"/>
            <a:ext cx="909638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A453910B-D09D-E227-5678-D6FABDE9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984" y="3842905"/>
            <a:ext cx="1944688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dirty="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71AC92CC-E956-4092-8C7D-D03540E683A8}"/>
              </a:ext>
            </a:extLst>
          </p:cNvPr>
          <p:cNvGrpSpPr>
            <a:grpSpLocks/>
          </p:cNvGrpSpPr>
          <p:nvPr/>
        </p:nvGrpSpPr>
        <p:grpSpPr bwMode="auto">
          <a:xfrm>
            <a:off x="5684209" y="3985780"/>
            <a:ext cx="1450975" cy="396875"/>
            <a:chOff x="2336" y="2336"/>
            <a:chExt cx="914" cy="250"/>
          </a:xfrm>
        </p:grpSpPr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F5DED50E-1BC1-ECDA-0EF8-A6A00A88E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399"/>
              <a:ext cx="914" cy="120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 dirty="0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78E8405-51D1-3839-61E4-DD820050E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2336"/>
              <a:ext cx="9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s-CO" sz="2000" i="1" dirty="0">
                  <a:latin typeface="Times New Roman" panose="02020603050405020304" pitchFamily="18" charset="0"/>
                </a:rPr>
                <a:t>trabaja</a:t>
              </a:r>
            </a:p>
          </p:txBody>
        </p:sp>
      </p:grpSp>
      <p:sp>
        <p:nvSpPr>
          <p:cNvPr id="14" name="Line 12">
            <a:extLst>
              <a:ext uri="{FF2B5EF4-FFF2-40B4-BE49-F238E27FC236}">
                <a16:creationId xmlns:a16="http://schemas.microsoft.com/office/drawing/2014/main" id="{AEFA860E-1C67-7CDE-1229-538343A6C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2672" y="4203268"/>
            <a:ext cx="8636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9BAA1051-1297-C42A-DCFC-A4C82C4B0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2897" y="3344430"/>
            <a:ext cx="2220912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Tx/>
              <a:buFontTx/>
              <a:buNone/>
            </a:pPr>
            <a:r>
              <a:rPr lang="es-CO" sz="1600" b="1" dirty="0">
                <a:latin typeface="Arial" panose="020B0604020202020204" pitchFamily="34" charset="0"/>
              </a:rPr>
              <a:t>Una relación 1:1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628F92FB-87D2-5E06-C4E2-1BC8E3D5A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4884" y="5753461"/>
            <a:ext cx="566738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E12620FF-4947-267F-495E-7C2B6815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84" y="5537561"/>
            <a:ext cx="1065213" cy="4318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84A325AC-504B-B113-1003-059A5082F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2397" y="5762986"/>
            <a:ext cx="909637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CD3083E-8099-72AD-5FBD-CC0C794BD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422" y="5537561"/>
            <a:ext cx="946150" cy="4318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5C47DBD3-405F-011E-DC84-539EF31A5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5384" y="6234473"/>
            <a:ext cx="372268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875"/>
              </a:spcBef>
              <a:buClrTx/>
              <a:buFontTx/>
              <a:buNone/>
            </a:pPr>
            <a:r>
              <a:rPr lang="es-CO" sz="1400" b="1" dirty="0">
                <a:latin typeface="Arial" panose="020B0604020202020204" pitchFamily="34" charset="0"/>
              </a:rPr>
              <a:t>A</a:t>
            </a:r>
            <a:r>
              <a:rPr lang="es-CO" sz="1400" dirty="0">
                <a:latin typeface="Arial" panose="020B0604020202020204" pitchFamily="34" charset="0"/>
              </a:rPr>
              <a:t> participa con cardinalidad </a:t>
            </a:r>
            <a:r>
              <a:rPr lang="es-CO" sz="1400" b="1" dirty="0">
                <a:latin typeface="Arial" panose="020B0604020202020204" pitchFamily="34" charset="0"/>
              </a:rPr>
              <a:t>1</a:t>
            </a:r>
            <a:r>
              <a:rPr lang="es-CO" sz="1400" dirty="0">
                <a:latin typeface="Arial" panose="020B0604020202020204" pitchFamily="34" charset="0"/>
              </a:rPr>
              <a:t> en la relación 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0DE2AD7-79A1-327D-0C87-F59069B68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797" y="6259873"/>
            <a:ext cx="378777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875"/>
              </a:spcBef>
              <a:buClrTx/>
              <a:buFontTx/>
              <a:buNone/>
            </a:pPr>
            <a:r>
              <a:rPr lang="es-CO" sz="1400" b="1" dirty="0">
                <a:latin typeface="Arial" panose="020B0604020202020204" pitchFamily="34" charset="0"/>
              </a:rPr>
              <a:t>A</a:t>
            </a:r>
            <a:r>
              <a:rPr lang="es-CO" sz="1400" dirty="0">
                <a:latin typeface="Arial" panose="020B0604020202020204" pitchFamily="34" charset="0"/>
              </a:rPr>
              <a:t> participa con cardinalidad  </a:t>
            </a:r>
            <a:r>
              <a:rPr lang="es-CO" sz="1400" b="1" dirty="0">
                <a:latin typeface="Arial" panose="020B0604020202020204" pitchFamily="34" charset="0"/>
              </a:rPr>
              <a:t>N</a:t>
            </a:r>
            <a:r>
              <a:rPr lang="es-CO" sz="1400" dirty="0">
                <a:latin typeface="Arial" panose="020B0604020202020204" pitchFamily="34" charset="0"/>
              </a:rPr>
              <a:t>  en la relación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617EE9D4-08B8-C8B3-E6B8-1F9AD630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984" y="5394686"/>
            <a:ext cx="1346200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s-CO" sz="1600" dirty="0">
                <a:solidFill>
                  <a:schemeClr val="accent1">
                    <a:lumMod val="50000"/>
                  </a:schemeClr>
                </a:solidFill>
              </a:rPr>
              <a:t>usa</a:t>
            </a:r>
            <a:endParaRPr lang="es-C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AutoShape 21">
            <a:extLst>
              <a:ext uri="{FF2B5EF4-FFF2-40B4-BE49-F238E27FC236}">
                <a16:creationId xmlns:a16="http://schemas.microsoft.com/office/drawing/2014/main" id="{952FA135-9CA5-CF36-3F6E-A6F83475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259" y="5393098"/>
            <a:ext cx="1354138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s-CO" sz="1600" dirty="0">
                <a:solidFill>
                  <a:schemeClr val="accent1">
                    <a:lumMod val="50000"/>
                  </a:schemeClr>
                </a:solidFill>
              </a:rPr>
              <a:t>tiene</a:t>
            </a:r>
            <a:endParaRPr lang="es-C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FDD93C5B-D3ED-3995-F287-C2190A75E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722" y="5610586"/>
            <a:ext cx="4318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000"/>
              </a:spcBef>
              <a:buClrTx/>
              <a:buFontTx/>
              <a:buNone/>
            </a:pPr>
            <a:r>
              <a:rPr lang="es-CO" sz="1600" b="1" dirty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96FA03DD-B24C-232A-B08C-08D85EA7C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8847" y="5608998"/>
            <a:ext cx="4318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000"/>
              </a:spcBef>
              <a:buClrTx/>
              <a:buFontTx/>
              <a:buNone/>
            </a:pPr>
            <a:r>
              <a:rPr lang="es-CO" sz="1600" b="1" dirty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8DF465E0-6CF9-EA32-B70D-AAFA6A756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672" y="329521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27" name="AutoShape 25">
            <a:extLst>
              <a:ext uri="{FF2B5EF4-FFF2-40B4-BE49-F238E27FC236}">
                <a16:creationId xmlns:a16="http://schemas.microsoft.com/office/drawing/2014/main" id="{ECDC918A-7DED-59FB-7E29-8495CB307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684" y="3346018"/>
            <a:ext cx="4464050" cy="360362"/>
          </a:xfrm>
          <a:prstGeom prst="wedgeRoundRectCallout">
            <a:avLst>
              <a:gd name="adj1" fmla="val -41144"/>
              <a:gd name="adj2" fmla="val 181278"/>
              <a:gd name="adj3" fmla="val 16667"/>
            </a:avLst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s-CO" sz="1600" dirty="0">
                <a:solidFill>
                  <a:srgbClr val="FF0000"/>
                </a:solidFill>
                <a:latin typeface="Arial" panose="020B0604020202020204" pitchFamily="34" charset="0"/>
              </a:rPr>
              <a:t>En un Departamento</a:t>
            </a:r>
            <a:r>
              <a:rPr lang="es-CO" sz="16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CO" sz="1600" i="1" dirty="0">
                <a:solidFill>
                  <a:srgbClr val="0000CC"/>
                </a:solidFill>
                <a:latin typeface="Arial" panose="020B0604020202020204" pitchFamily="34" charset="0"/>
              </a:rPr>
              <a:t>trabaja</a:t>
            </a:r>
            <a:r>
              <a:rPr lang="es-CO" sz="1600" dirty="0">
                <a:solidFill>
                  <a:srgbClr val="FF0000"/>
                </a:solidFill>
                <a:latin typeface="Arial" panose="020B0604020202020204" pitchFamily="34" charset="0"/>
              </a:rPr>
              <a:t>  un Empleado</a:t>
            </a:r>
            <a:r>
              <a:rPr lang="es-CO" sz="2400" dirty="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" name="AutoShape 26">
            <a:extLst>
              <a:ext uri="{FF2B5EF4-FFF2-40B4-BE49-F238E27FC236}">
                <a16:creationId xmlns:a16="http://schemas.microsoft.com/office/drawing/2014/main" id="{34159FA2-F025-2111-568A-8718352CB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684" y="4785880"/>
            <a:ext cx="4321175" cy="360363"/>
          </a:xfrm>
          <a:prstGeom prst="wedgeRoundRectCallout">
            <a:avLst>
              <a:gd name="adj1" fmla="val 21162"/>
              <a:gd name="adj2" fmla="val -204185"/>
              <a:gd name="adj3" fmla="val 16667"/>
            </a:avLst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600" dirty="0">
                <a:solidFill>
                  <a:srgbClr val="FF0000"/>
                </a:solidFill>
                <a:latin typeface="Arial" panose="020B0604020202020204" pitchFamily="34" charset="0"/>
              </a:rPr>
              <a:t>Un Empleado </a:t>
            </a:r>
            <a:r>
              <a:rPr lang="es-CO" sz="1600" i="1" dirty="0">
                <a:solidFill>
                  <a:srgbClr val="0000CC"/>
                </a:solidFill>
                <a:latin typeface="Arial" panose="020B0604020202020204" pitchFamily="34" charset="0"/>
              </a:rPr>
              <a:t>trabaja</a:t>
            </a:r>
            <a:r>
              <a:rPr lang="es-CO" sz="1600" dirty="0">
                <a:solidFill>
                  <a:srgbClr val="FF0000"/>
                </a:solidFill>
                <a:latin typeface="Arial" panose="020B0604020202020204" pitchFamily="34" charset="0"/>
              </a:rPr>
              <a:t> en un Departamento</a:t>
            </a:r>
          </a:p>
        </p:txBody>
      </p:sp>
      <p:sp>
        <p:nvSpPr>
          <p:cNvPr id="29" name="Line 14">
            <a:extLst>
              <a:ext uri="{FF2B5EF4-FFF2-40B4-BE49-F238E27FC236}">
                <a16:creationId xmlns:a16="http://schemas.microsoft.com/office/drawing/2014/main" id="{6D5B988B-D6B3-1EF8-469F-402F61190E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2634" y="5751873"/>
            <a:ext cx="566738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3F617075-663B-168E-23FA-AF34241BC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34" y="5512161"/>
            <a:ext cx="1065213" cy="4318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 dirty="0"/>
          </a:p>
        </p:txBody>
      </p:sp>
      <p:sp>
        <p:nvSpPr>
          <p:cNvPr id="31" name="Text Box 22">
            <a:extLst>
              <a:ext uri="{FF2B5EF4-FFF2-40B4-BE49-F238E27FC236}">
                <a16:creationId xmlns:a16="http://schemas.microsoft.com/office/drawing/2014/main" id="{2E9BE6B1-633A-828B-6D34-56FF96E07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472" y="5585186"/>
            <a:ext cx="43180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000"/>
              </a:spcBef>
              <a:buClrTx/>
              <a:buFontTx/>
              <a:buNone/>
            </a:pPr>
            <a:r>
              <a:rPr lang="es-CO" sz="1600" b="1" dirty="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2" name="Line 14">
            <a:extLst>
              <a:ext uri="{FF2B5EF4-FFF2-40B4-BE49-F238E27FC236}">
                <a16:creationId xmlns:a16="http://schemas.microsoft.com/office/drawing/2014/main" id="{17EA2998-45C3-CA63-A03F-47C8E3A2C1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7659" y="5751873"/>
            <a:ext cx="623888" cy="952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16447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4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</a:rPr>
              <a:t>El tipo de cardinalidad se representa mediante una etiqueta en el exterior de la relación: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</a:rPr>
              <a:t>"1:1", "1:N" y "N:M"</a:t>
            </a:r>
          </a:p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</a:rPr>
              <a:t>Ejemplos de relaciones que expresan cardinalidad: </a:t>
            </a:r>
          </a:p>
          <a:p>
            <a:pPr marL="342900" indent="-342900">
              <a:spcBef>
                <a:spcPts val="1438"/>
              </a:spcBef>
              <a:buClrTx/>
              <a:buFont typeface="Arial" panose="020B0604020202020204" pitchFamily="34" charset="0"/>
              <a:buChar char="•"/>
            </a:pPr>
            <a:r>
              <a:rPr lang="es-CO" sz="2400" dirty="0">
                <a:latin typeface="Arial" panose="020B0604020202020204" pitchFamily="34" charset="0"/>
              </a:rPr>
              <a:t>Cada esposo (entidad) está casado (relación)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con una única </a:t>
            </a:r>
            <a:r>
              <a:rPr lang="es-CO" sz="2400" dirty="0">
                <a:latin typeface="Arial" panose="020B0604020202020204" pitchFamily="34" charset="0"/>
              </a:rPr>
              <a:t>esposa (entidad) y viceversa. Es una relación </a:t>
            </a:r>
            <a:r>
              <a:rPr lang="es-CO" sz="2400" b="1" dirty="0">
                <a:solidFill>
                  <a:srgbClr val="0000CC"/>
                </a:solidFill>
                <a:latin typeface="Arial" panose="020B0604020202020204" pitchFamily="34" charset="0"/>
              </a:rPr>
              <a:t>1:1</a:t>
            </a:r>
            <a:r>
              <a:rPr lang="es-CO" sz="2400" dirty="0">
                <a:latin typeface="Arial" panose="020B0604020202020204" pitchFamily="34" charset="0"/>
              </a:rPr>
              <a:t>.  </a:t>
            </a:r>
          </a:p>
          <a:p>
            <a:pPr marL="342900" indent="-342900">
              <a:spcBef>
                <a:spcPts val="1438"/>
              </a:spcBef>
              <a:buClrTx/>
              <a:buFont typeface="Arial" panose="020B0604020202020204" pitchFamily="34" charset="0"/>
              <a:buChar char="•"/>
            </a:pPr>
            <a:r>
              <a:rPr lang="es-CO" sz="2400" dirty="0">
                <a:latin typeface="Arial" panose="020B0604020202020204" pitchFamily="34" charset="0"/>
              </a:rPr>
              <a:t>Una factura (entidad) se emite (relación)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a una persona </a:t>
            </a:r>
            <a:r>
              <a:rPr lang="es-CO" sz="2400" dirty="0">
                <a:latin typeface="Arial" panose="020B0604020202020204" pitchFamily="34" charset="0"/>
              </a:rPr>
              <a:t>(entidad)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y sólo una</a:t>
            </a:r>
            <a:r>
              <a:rPr lang="es-CO" sz="2400" dirty="0">
                <a:latin typeface="Arial" panose="020B0604020202020204" pitchFamily="34" charset="0"/>
              </a:rPr>
              <a:t>, pero una persona puede tener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varias</a:t>
            </a:r>
            <a:r>
              <a:rPr lang="es-CO" sz="2400" dirty="0">
                <a:latin typeface="Arial" panose="020B0604020202020204" pitchFamily="34" charset="0"/>
              </a:rPr>
              <a:t> facturas emitidas a su nombre. Todas las facturas se emiten a nombre de alguien. Es una relación </a:t>
            </a:r>
            <a:r>
              <a:rPr lang="es-CO" sz="2400" b="1" dirty="0">
                <a:solidFill>
                  <a:srgbClr val="0000CC"/>
                </a:solidFill>
                <a:latin typeface="Arial" panose="020B0604020202020204" pitchFamily="34" charset="0"/>
              </a:rPr>
              <a:t>1:N</a:t>
            </a:r>
            <a:r>
              <a:rPr lang="es-CO" sz="2400" dirty="0">
                <a:latin typeface="Arial" panose="020B0604020202020204" pitchFamily="34" charset="0"/>
              </a:rPr>
              <a:t>.  </a:t>
            </a:r>
          </a:p>
          <a:p>
            <a:pPr marL="342900" indent="-342900">
              <a:spcBef>
                <a:spcPts val="1438"/>
              </a:spcBef>
              <a:buClrTx/>
              <a:buFont typeface="Arial" panose="020B0604020202020204" pitchFamily="34" charset="0"/>
              <a:buChar char="•"/>
            </a:pPr>
            <a:r>
              <a:rPr lang="es-CO" sz="2400" dirty="0">
                <a:latin typeface="Arial" panose="020B0604020202020204" pitchFamily="34" charset="0"/>
              </a:rPr>
              <a:t>Un cliente (entidad) puede comprar (relación)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varios</a:t>
            </a:r>
            <a:r>
              <a:rPr lang="es-CO" sz="2400" dirty="0">
                <a:latin typeface="Arial" panose="020B0604020202020204" pitchFamily="34" charset="0"/>
              </a:rPr>
              <a:t> artículos (entidad) y un artículo puede ser comprado por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varios</a:t>
            </a:r>
            <a:r>
              <a:rPr lang="es-CO" sz="2400" dirty="0">
                <a:latin typeface="Arial" panose="020B0604020202020204" pitchFamily="34" charset="0"/>
              </a:rPr>
              <a:t> clientes distintos. Es una relación </a:t>
            </a:r>
            <a:r>
              <a:rPr lang="es-CO" sz="2400" b="1" dirty="0">
                <a:latin typeface="Arial" panose="020B0604020202020204" pitchFamily="34" charset="0"/>
              </a:rPr>
              <a:t>N:M</a:t>
            </a:r>
            <a:r>
              <a:rPr lang="es-CO" sz="2400" dirty="0"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1016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Cardinalidad Máxima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el número de ocurrencias de entidad que se pueden asociar como máximo a otra a través de una relación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664A33A1-7BC4-E8D8-68CB-012EDB19F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799" y="3118449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41C96D0-EE3D-1EA5-CD15-96AF39C79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636" y="5371111"/>
            <a:ext cx="7924800" cy="802400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438"/>
              </a:spcBef>
              <a:buClrTx/>
              <a:buFontTx/>
              <a:buNone/>
            </a:pPr>
            <a:r>
              <a:rPr lang="es-CO" sz="2300" dirty="0">
                <a:latin typeface="Arial" panose="020B0604020202020204" pitchFamily="34" charset="0"/>
              </a:rPr>
              <a:t>Ejemplo: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</a:rPr>
              <a:t>Una</a:t>
            </a:r>
            <a:r>
              <a:rPr lang="es-CO" sz="2300" dirty="0">
                <a:latin typeface="Arial" panose="020B0604020202020204" pitchFamily="34" charset="0"/>
              </a:rPr>
              <a:t> persona </a:t>
            </a:r>
            <a:r>
              <a:rPr lang="es-CO" sz="2300" b="1" dirty="0">
                <a:solidFill>
                  <a:schemeClr val="tx1"/>
                </a:solidFill>
                <a:latin typeface="Arial" panose="020B0604020202020204" pitchFamily="34" charset="0"/>
              </a:rPr>
              <a:t>sólo</a:t>
            </a:r>
            <a:r>
              <a:rPr lang="es-CO" sz="2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CO" sz="2300" dirty="0">
                <a:latin typeface="Arial" panose="020B0604020202020204" pitchFamily="34" charset="0"/>
              </a:rPr>
              <a:t>tiene </a:t>
            </a: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</a:rPr>
              <a:t>un</a:t>
            </a:r>
            <a:r>
              <a:rPr lang="es-CO" sz="2300" dirty="0">
                <a:latin typeface="Arial" panose="020B0604020202020204" pitchFamily="34" charset="0"/>
              </a:rPr>
              <a:t> carro y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</a:rPr>
              <a:t>un </a:t>
            </a:r>
            <a:r>
              <a:rPr lang="es-CO" sz="2300" dirty="0">
                <a:latin typeface="Arial" panose="020B0604020202020204" pitchFamily="34" charset="0"/>
              </a:rPr>
              <a:t>carro es de </a:t>
            </a: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</a:rPr>
              <a:t>una sola </a:t>
            </a:r>
            <a:r>
              <a:rPr lang="es-CO" sz="2300" dirty="0">
                <a:latin typeface="Arial" panose="020B0604020202020204" pitchFamily="34" charset="0"/>
              </a:rPr>
              <a:t>persona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9B3BF70-1CF8-8C1A-493E-84E35203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99" y="2737449"/>
            <a:ext cx="1143000" cy="463846"/>
          </a:xfrm>
          <a:prstGeom prst="rect">
            <a:avLst/>
          </a:prstGeom>
          <a:solidFill>
            <a:srgbClr val="FFC6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400" b="1" dirty="0">
                <a:latin typeface="Arial" panose="020B0604020202020204" pitchFamily="34" charset="0"/>
              </a:rPr>
              <a:t>1 : 1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18E65B8E-EFB6-1FD0-DDFE-A59E5A59F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194649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A560B24-9939-E398-FE66-6556D0A44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728049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A0DE3E2-0B67-2208-3C66-192F1F987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4642449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41ABDBD-90AD-F125-E058-1349ECF02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4185249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126875E6-BF81-4AC1-85B4-EE796DD16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199" y="3118449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4BA55493-2063-5D75-2C3B-F09B10846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194649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5BC1A23C-7110-EC74-51AA-062A04A52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728049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4C4BD135-84DB-87BC-D39D-3BF228D3C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4642449"/>
            <a:ext cx="6096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A3CFBD95-4277-3C2E-81B7-7A42BCD4D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4185249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FAD182F9-E330-FAE0-BBC6-91CE9B203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3423249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89C933E0-B721-A65C-C2D0-2F5F5F83D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3956649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CD1D0C92-1155-34DF-C2D6-D213B033E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4871049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DF5C639A-60BC-8D06-C792-F48414D2E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399" y="3804249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 dirty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CD23B223-67D2-36DA-ABCE-F32237613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399" y="3804249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>
                <a:latin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95693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Cardinalidad Máxima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EF870813-D6B0-03F4-C69E-6F4261435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799" y="2545406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0" name="Text Box 4">
            <a:extLst>
              <a:ext uri="{FF2B5EF4-FFF2-40B4-BE49-F238E27FC236}">
                <a16:creationId xmlns:a16="http://schemas.microsoft.com/office/drawing/2014/main" id="{F16AC23C-D4F6-40EA-64A3-5DAEEEBE3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599" y="5060006"/>
            <a:ext cx="7924800" cy="802400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just">
              <a:spcBef>
                <a:spcPts val="1438"/>
              </a:spcBef>
              <a:buClrTx/>
              <a:buFontTx/>
              <a:buNone/>
            </a:pPr>
            <a:r>
              <a:rPr lang="es-CO" sz="2300" dirty="0">
                <a:latin typeface="Arial" panose="020B0604020202020204" pitchFamily="34" charset="0"/>
              </a:rPr>
              <a:t>Ejemplo: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</a:rPr>
              <a:t>Una </a:t>
            </a:r>
            <a:r>
              <a:rPr lang="es-CO" sz="2300" dirty="0">
                <a:latin typeface="Arial" panose="020B0604020202020204" pitchFamily="34" charset="0"/>
              </a:rPr>
              <a:t>persona tiene </a:t>
            </a:r>
            <a:r>
              <a:rPr lang="es-CO" sz="2300" dirty="0">
                <a:solidFill>
                  <a:srgbClr val="0000CC"/>
                </a:solidFill>
                <a:latin typeface="Arial" panose="020B0604020202020204" pitchFamily="34" charset="0"/>
              </a:rPr>
              <a:t>varios </a:t>
            </a:r>
            <a:r>
              <a:rPr lang="es-CO" sz="2300" dirty="0">
                <a:latin typeface="Arial" panose="020B0604020202020204" pitchFamily="34" charset="0"/>
              </a:rPr>
              <a:t>carros y </a:t>
            </a:r>
            <a:r>
              <a:rPr lang="es-CO" sz="2300" dirty="0">
                <a:solidFill>
                  <a:srgbClr val="0000CC"/>
                </a:solidFill>
                <a:latin typeface="Arial" panose="020B0604020202020204" pitchFamily="34" charset="0"/>
              </a:rPr>
              <a:t>un</a:t>
            </a:r>
            <a:r>
              <a:rPr lang="es-CO" sz="2300" dirty="0">
                <a:latin typeface="Arial" panose="020B0604020202020204" pitchFamily="34" charset="0"/>
              </a:rPr>
              <a:t> carro pertenece a </a:t>
            </a:r>
            <a:r>
              <a:rPr lang="es-CO" sz="2300" dirty="0">
                <a:solidFill>
                  <a:srgbClr val="FF0000"/>
                </a:solidFill>
                <a:latin typeface="Arial" panose="020B0604020202020204" pitchFamily="34" charset="0"/>
              </a:rPr>
              <a:t>una sola</a:t>
            </a:r>
            <a:r>
              <a:rPr lang="es-CO" sz="2300" dirty="0">
                <a:latin typeface="Arial" panose="020B0604020202020204" pitchFamily="34" charset="0"/>
              </a:rPr>
              <a:t> persona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7CFF3B00-BACE-BA04-7B57-C6AFDFF6F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99" y="2164406"/>
            <a:ext cx="1143000" cy="398463"/>
          </a:xfrm>
          <a:prstGeom prst="rect">
            <a:avLst/>
          </a:prstGeom>
          <a:solidFill>
            <a:srgbClr val="FFC6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 dirty="0">
                <a:latin typeface="Arial" panose="020B0604020202020204" pitchFamily="34" charset="0"/>
              </a:rPr>
              <a:t>1 : N</a:t>
            </a:r>
          </a:p>
        </p:txBody>
      </p:sp>
      <p:sp>
        <p:nvSpPr>
          <p:cNvPr id="42" name="Text Box 6">
            <a:extLst>
              <a:ext uri="{FF2B5EF4-FFF2-40B4-BE49-F238E27FC236}">
                <a16:creationId xmlns:a16="http://schemas.microsoft.com/office/drawing/2014/main" id="{9EA8C80A-BA7D-35CE-91DA-52474F008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26216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24CE153D-466C-32E0-09DD-2A1687B82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1550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4" name="Text Box 8">
            <a:extLst>
              <a:ext uri="{FF2B5EF4-FFF2-40B4-BE49-F238E27FC236}">
                <a16:creationId xmlns:a16="http://schemas.microsoft.com/office/drawing/2014/main" id="{4DA0B870-5E68-32D7-AF99-50075CFC2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40694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45" name="Text Box 9">
            <a:extLst>
              <a:ext uri="{FF2B5EF4-FFF2-40B4-BE49-F238E27FC236}">
                <a16:creationId xmlns:a16="http://schemas.microsoft.com/office/drawing/2014/main" id="{E0D6D58E-E2BE-707B-4BDB-DDE406FCD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612206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46" name="AutoShape 10">
            <a:extLst>
              <a:ext uri="{FF2B5EF4-FFF2-40B4-BE49-F238E27FC236}">
                <a16:creationId xmlns:a16="http://schemas.microsoft.com/office/drawing/2014/main" id="{0545D561-1805-B602-BE73-43124E73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199" y="2545406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7" name="Text Box 11">
            <a:extLst>
              <a:ext uri="{FF2B5EF4-FFF2-40B4-BE49-F238E27FC236}">
                <a16:creationId xmlns:a16="http://schemas.microsoft.com/office/drawing/2014/main" id="{0A14B82A-5EE6-DA49-96DE-8012257DC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26216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8" name="Text Box 12">
            <a:extLst>
              <a:ext uri="{FF2B5EF4-FFF2-40B4-BE49-F238E27FC236}">
                <a16:creationId xmlns:a16="http://schemas.microsoft.com/office/drawing/2014/main" id="{E60AE4FB-A29F-EF87-B504-27AAC6127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1550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9" name="Text Box 13">
            <a:extLst>
              <a:ext uri="{FF2B5EF4-FFF2-40B4-BE49-F238E27FC236}">
                <a16:creationId xmlns:a16="http://schemas.microsoft.com/office/drawing/2014/main" id="{7A5027F9-4B4E-441E-1D3D-D278339C1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4069406"/>
            <a:ext cx="6096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50" name="Text Box 14">
            <a:extLst>
              <a:ext uri="{FF2B5EF4-FFF2-40B4-BE49-F238E27FC236}">
                <a16:creationId xmlns:a16="http://schemas.microsoft.com/office/drawing/2014/main" id="{34601412-6C9C-8ADB-2637-3FC1CB51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612206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51" name="Line 15">
            <a:extLst>
              <a:ext uri="{FF2B5EF4-FFF2-40B4-BE49-F238E27FC236}">
                <a16:creationId xmlns:a16="http://schemas.microsoft.com/office/drawing/2014/main" id="{CA5842A9-97E1-B076-DB1E-754A77CCD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2850206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2" name="Line 16">
            <a:extLst>
              <a:ext uri="{FF2B5EF4-FFF2-40B4-BE49-F238E27FC236}">
                <a16:creationId xmlns:a16="http://schemas.microsoft.com/office/drawing/2014/main" id="{DAE1D610-2E5B-7565-EF6D-FC5D6F47F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2850206"/>
            <a:ext cx="3886200" cy="5334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3" name="Line 17">
            <a:extLst>
              <a:ext uri="{FF2B5EF4-FFF2-40B4-BE49-F238E27FC236}">
                <a16:creationId xmlns:a16="http://schemas.microsoft.com/office/drawing/2014/main" id="{66CD2266-86AF-55A7-1190-2D211A2D9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4298006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4" name="Text Box 18">
            <a:extLst>
              <a:ext uri="{FF2B5EF4-FFF2-40B4-BE49-F238E27FC236}">
                <a16:creationId xmlns:a16="http://schemas.microsoft.com/office/drawing/2014/main" id="{E1E75741-A079-9D53-31A6-11A9566E6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399" y="3231206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5" name="Text Box 19">
            <a:extLst>
              <a:ext uri="{FF2B5EF4-FFF2-40B4-BE49-F238E27FC236}">
                <a16:creationId xmlns:a16="http://schemas.microsoft.com/office/drawing/2014/main" id="{FE355BE8-9298-63BC-B0E7-023B3E5E7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399" y="3231206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>
                <a:latin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59749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Cardinalidad Máxima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8FAB4B2-01FA-365E-FDCC-C99E63266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799" y="2545406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2242992C-9BBA-BB91-5852-7C4CA9350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7" y="4975869"/>
            <a:ext cx="8353425" cy="833437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just">
              <a:spcBef>
                <a:spcPts val="1438"/>
              </a:spcBef>
              <a:buClrTx/>
              <a:buFontTx/>
              <a:buNone/>
            </a:pPr>
            <a:r>
              <a:rPr lang="es-CO" sz="2400" dirty="0">
                <a:latin typeface="Arial" panose="020B0604020202020204" pitchFamily="34" charset="0"/>
              </a:rPr>
              <a:t>Ejemplo: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</a:rPr>
              <a:t>Una</a:t>
            </a:r>
            <a:r>
              <a:rPr lang="es-CO" sz="2400" dirty="0">
                <a:latin typeface="Arial" panose="020B0604020202020204" pitchFamily="34" charset="0"/>
              </a:rPr>
              <a:t> persona tiene </a:t>
            </a:r>
            <a:r>
              <a:rPr lang="es-CO" sz="2400" b="1" dirty="0">
                <a:solidFill>
                  <a:srgbClr val="0000CC"/>
                </a:solidFill>
                <a:latin typeface="Arial" panose="020B0604020202020204" pitchFamily="34" charset="0"/>
              </a:rPr>
              <a:t>varios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</a:rPr>
              <a:t>carros y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</a:rPr>
              <a:t>un</a:t>
            </a:r>
            <a:r>
              <a:rPr lang="es-CO" sz="2400" dirty="0">
                <a:latin typeface="Arial" panose="020B0604020202020204" pitchFamily="34" charset="0"/>
              </a:rPr>
              <a:t> carro le pertenece a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</a:rPr>
              <a:t>varias </a:t>
            </a:r>
            <a:r>
              <a:rPr lang="es-CO" sz="2400" dirty="0">
                <a:latin typeface="Arial" panose="020B0604020202020204" pitchFamily="34" charset="0"/>
              </a:rPr>
              <a:t>personas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A9E6E84F-C066-5C84-3FE5-F0F49C953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99" y="2164406"/>
            <a:ext cx="1143000" cy="398463"/>
          </a:xfrm>
          <a:prstGeom prst="rect">
            <a:avLst/>
          </a:prstGeom>
          <a:solidFill>
            <a:srgbClr val="FFC6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 dirty="0">
                <a:latin typeface="Arial" panose="020B0604020202020204" pitchFamily="34" charset="0"/>
              </a:rPr>
              <a:t>N : M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4A66476A-5A5B-BCD7-E82D-E6FF6447E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26216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14E8A865-3AAE-8911-D0C6-8FB9CD3CE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1550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20124ECB-B9F4-78E0-3700-36A3A23A8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40694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a</a:t>
            </a:r>
            <a:r>
              <a:rPr lang="en-GB" sz="2000" b="1" baseline="-25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D8DE8CA5-753E-EEDF-36DF-90DFF712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399" y="3612206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31" name="AutoShape 10">
            <a:extLst>
              <a:ext uri="{FF2B5EF4-FFF2-40B4-BE49-F238E27FC236}">
                <a16:creationId xmlns:a16="http://schemas.microsoft.com/office/drawing/2014/main" id="{3F5E32A4-5C1A-22CE-23FF-06182A8A8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199" y="2545406"/>
            <a:ext cx="1600200" cy="2057400"/>
          </a:xfrm>
          <a:prstGeom prst="roundRect">
            <a:avLst>
              <a:gd name="adj" fmla="val 16667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65C99DC2-1F43-BA0F-F90D-7962A0BDF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26216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84D337B2-4A72-46B0-67E3-79322AEB3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155006"/>
            <a:ext cx="4572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81EB9462-CBFB-9384-6AB2-EE329E6CD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4069406"/>
            <a:ext cx="609600" cy="441325"/>
          </a:xfrm>
          <a:prstGeom prst="rect">
            <a:avLst/>
          </a:prstGeom>
          <a:solidFill>
            <a:srgbClr val="FFC6C5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b</a:t>
            </a:r>
            <a:r>
              <a:rPr lang="en-GB" sz="2000" b="1" baseline="-250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00255F54-F1A5-A0FB-DB1B-9334DF13B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99" y="3612206"/>
            <a:ext cx="4572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250"/>
              </a:spcBef>
              <a:buClrTx/>
              <a:buFontTx/>
              <a:buNone/>
            </a:pPr>
            <a:r>
              <a:rPr lang="en-GB" sz="2000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66B6A54C-A5E7-4FFB-549F-37E6FC833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2850206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6A396A2A-F198-942F-79FB-7EDFDC9CC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3383606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8" name="Line 17">
            <a:extLst>
              <a:ext uri="{FF2B5EF4-FFF2-40B4-BE49-F238E27FC236}">
                <a16:creationId xmlns:a16="http://schemas.microsoft.com/office/drawing/2014/main" id="{A5BD68EE-D743-4183-0108-E6398F040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4298006"/>
            <a:ext cx="38862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AF03854F-C079-64E0-A9A3-F944E6D28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399" y="3231206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2DAE3F59-EE17-3D7B-8E5A-CDBAA70F6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399" y="3231206"/>
            <a:ext cx="533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500"/>
              </a:spcBef>
              <a:buClrTx/>
              <a:buFontTx/>
              <a:buNone/>
            </a:pPr>
            <a:r>
              <a:rPr lang="en-GB" sz="2400" b="1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8" name="Line 20">
            <a:extLst>
              <a:ext uri="{FF2B5EF4-FFF2-40B4-BE49-F238E27FC236}">
                <a16:creationId xmlns:a16="http://schemas.microsoft.com/office/drawing/2014/main" id="{03387EE6-5908-745D-EDB2-1B76535850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599" y="3370906"/>
            <a:ext cx="3886200" cy="9398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9" name="Line 21">
            <a:extLst>
              <a:ext uri="{FF2B5EF4-FFF2-40B4-BE49-F238E27FC236}">
                <a16:creationId xmlns:a16="http://schemas.microsoft.com/office/drawing/2014/main" id="{1F7F8B18-6F79-E42F-CD44-D46934892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3383606"/>
            <a:ext cx="3962400" cy="9144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6808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SzPct val="100000"/>
              <a:defRPr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Cardinalidad Mínima</a:t>
            </a:r>
          </a:p>
          <a:p>
            <a:pPr marL="177800" indent="-176213" algn="just" eaLnBrk="1" hangingPunct="1">
              <a:lnSpc>
                <a:spcPts val="2813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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ocurrencias de entidad que se deben asociar a otra a través de una relación</a:t>
            </a:r>
          </a:p>
          <a:p>
            <a:pPr marL="177800" indent="-176213" algn="just" eaLnBrk="1" hangingPunct="1">
              <a:lnSpc>
                <a:spcPts val="2813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"/>
              <a:defRPr/>
            </a:pP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Posibilidades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0:0, 0:1, 1:0, 1:1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6778B-16A4-E1C8-83FB-F8E8BB7B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49" y="3473449"/>
            <a:ext cx="16764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D4885F2-6849-F3B1-9B5D-C8E9EA613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1" y="3702049"/>
            <a:ext cx="13033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Empleado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11BDE49-F1BC-D2C5-1196-D45E73C05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949" y="3473449"/>
            <a:ext cx="19050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20AD5C1-8494-5B79-A00F-F1B0CFA87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49" y="3702049"/>
            <a:ext cx="1752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Departamento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809D1F7A-CEEE-F683-F32A-62E937C8C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1349" y="3930649"/>
            <a:ext cx="838200" cy="158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4014B18A-2CB2-DE33-BF20-F2EE5B27E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49" y="3549649"/>
            <a:ext cx="1979612" cy="76676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0ED674B7-EA18-3342-F982-DE3499A51F48}"/>
              </a:ext>
            </a:extLst>
          </p:cNvPr>
          <p:cNvGrpSpPr>
            <a:grpSpLocks/>
          </p:cNvGrpSpPr>
          <p:nvPr/>
        </p:nvGrpSpPr>
        <p:grpSpPr bwMode="auto">
          <a:xfrm>
            <a:off x="5556249" y="3705224"/>
            <a:ext cx="1449387" cy="396875"/>
            <a:chOff x="2281" y="2546"/>
            <a:chExt cx="913" cy="250"/>
          </a:xfrm>
        </p:grpSpPr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98F59797-FDD2-EDC2-D714-BC47E3DD0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2610"/>
              <a:ext cx="913" cy="120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39C4F8B7-D3F5-2C72-69BD-B59B7A95F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" y="2546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>
                  <a:latin typeface="Times New Roman" panose="02020603050405020304" pitchFamily="18" charset="0"/>
                </a:rPr>
                <a:t>trabajaEn</a:t>
              </a:r>
            </a:p>
          </p:txBody>
        </p:sp>
      </p:grpSp>
      <p:sp>
        <p:nvSpPr>
          <p:cNvPr id="15" name="Line 13">
            <a:extLst>
              <a:ext uri="{FF2B5EF4-FFF2-40B4-BE49-F238E27FC236}">
                <a16:creationId xmlns:a16="http://schemas.microsoft.com/office/drawing/2014/main" id="{38B58A8E-012C-79A3-DEFB-29F88DF70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49" y="3930649"/>
            <a:ext cx="8382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852C8D13-AD5E-3244-BECE-B10E368F6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036" y="3597274"/>
            <a:ext cx="76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600" b="1" dirty="0">
                <a:latin typeface="Arial" panose="020B0604020202020204" pitchFamily="34" charset="0"/>
              </a:rPr>
              <a:t>(1:N)</a:t>
            </a:r>
            <a:r>
              <a:rPr lang="ar-SA" sz="1600" b="1" dirty="0">
                <a:latin typeface="Arial" panose="020B0604020202020204" pitchFamily="34" charset="0"/>
                <a:cs typeface="Arial" panose="020B0604020202020204" pitchFamily="34" charset="0"/>
              </a:rPr>
              <a:t>‏</a:t>
            </a:r>
            <a:endParaRPr lang="en-GB" sz="1600" b="1" dirty="0">
              <a:latin typeface="Arial" panose="020B0604020202020204" pitchFamily="34" charset="0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EE24230A-5F46-EF53-480E-D5434F011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349" y="3625849"/>
            <a:ext cx="630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600" b="1">
                <a:latin typeface="Arial" panose="020B0604020202020204" pitchFamily="34" charset="0"/>
              </a:rPr>
              <a:t>(0:1)</a:t>
            </a:r>
            <a:r>
              <a:rPr lang="ar-SA" sz="1600" b="1">
                <a:latin typeface="Arial" panose="020B0604020202020204" pitchFamily="34" charset="0"/>
                <a:cs typeface="Arial" panose="020B0604020202020204" pitchFamily="34" charset="0"/>
              </a:rPr>
              <a:t>‏</a:t>
            </a:r>
            <a:endParaRPr lang="en-GB" sz="1600" b="1">
              <a:latin typeface="Arial" panose="020B0604020202020204" pitchFamily="34" charset="0"/>
            </a:endParaRPr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9504B30E-D56D-78EE-2513-ED4699CBC442}"/>
              </a:ext>
            </a:extLst>
          </p:cNvPr>
          <p:cNvSpPr>
            <a:spLocks/>
          </p:cNvSpPr>
          <p:nvPr/>
        </p:nvSpPr>
        <p:spPr bwMode="auto">
          <a:xfrm>
            <a:off x="4679949" y="3276599"/>
            <a:ext cx="3048000" cy="425450"/>
          </a:xfrm>
          <a:custGeom>
            <a:avLst/>
            <a:gdLst>
              <a:gd name="T0" fmla="*/ 0 w 1968"/>
              <a:gd name="T1" fmla="*/ 2147483646 h 392"/>
              <a:gd name="T2" fmla="*/ 2147483646 w 1968"/>
              <a:gd name="T3" fmla="*/ 2147483646 h 392"/>
              <a:gd name="T4" fmla="*/ 2147483646 w 1968"/>
              <a:gd name="T5" fmla="*/ 2147483646 h 392"/>
              <a:gd name="T6" fmla="*/ 2147483646 w 1968"/>
              <a:gd name="T7" fmla="*/ 2147483646 h 392"/>
              <a:gd name="T8" fmla="*/ 2147483646 w 1968"/>
              <a:gd name="T9" fmla="*/ 2147483646 h 392"/>
              <a:gd name="T10" fmla="*/ 2147483646 w 1968"/>
              <a:gd name="T11" fmla="*/ 2147483646 h 392"/>
              <a:gd name="T12" fmla="*/ 2147483646 w 1968"/>
              <a:gd name="T13" fmla="*/ 2147483646 h 3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68"/>
              <a:gd name="T22" fmla="*/ 0 h 392"/>
              <a:gd name="T23" fmla="*/ 1968 w 1968"/>
              <a:gd name="T24" fmla="*/ 392 h 3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68" h="392">
                <a:moveTo>
                  <a:pt x="0" y="392"/>
                </a:moveTo>
                <a:cubicBezTo>
                  <a:pt x="40" y="320"/>
                  <a:pt x="80" y="248"/>
                  <a:pt x="144" y="200"/>
                </a:cubicBezTo>
                <a:cubicBezTo>
                  <a:pt x="208" y="152"/>
                  <a:pt x="272" y="136"/>
                  <a:pt x="384" y="104"/>
                </a:cubicBezTo>
                <a:cubicBezTo>
                  <a:pt x="496" y="72"/>
                  <a:pt x="664" y="16"/>
                  <a:pt x="816" y="8"/>
                </a:cubicBezTo>
                <a:cubicBezTo>
                  <a:pt x="968" y="0"/>
                  <a:pt x="1144" y="24"/>
                  <a:pt x="1296" y="56"/>
                </a:cubicBezTo>
                <a:cubicBezTo>
                  <a:pt x="1448" y="88"/>
                  <a:pt x="1616" y="144"/>
                  <a:pt x="1728" y="200"/>
                </a:cubicBezTo>
                <a:cubicBezTo>
                  <a:pt x="1840" y="256"/>
                  <a:pt x="1944" y="328"/>
                  <a:pt x="1968" y="392"/>
                </a:cubicBezTo>
              </a:path>
            </a:pathLst>
          </a:custGeom>
          <a:noFill/>
          <a:ln w="28440" cap="sq">
            <a:solidFill>
              <a:srgbClr val="00CC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85F05792-CA4F-0335-4B49-6213971F4A69}"/>
              </a:ext>
            </a:extLst>
          </p:cNvPr>
          <p:cNvSpPr>
            <a:spLocks/>
          </p:cNvSpPr>
          <p:nvPr/>
        </p:nvSpPr>
        <p:spPr bwMode="auto">
          <a:xfrm rot="10800000">
            <a:off x="4908548" y="3943349"/>
            <a:ext cx="3044825" cy="579437"/>
          </a:xfrm>
          <a:custGeom>
            <a:avLst/>
            <a:gdLst>
              <a:gd name="T0" fmla="*/ 0 w 1968"/>
              <a:gd name="T1" fmla="*/ 2147483646 h 392"/>
              <a:gd name="T2" fmla="*/ 2147483646 w 1968"/>
              <a:gd name="T3" fmla="*/ 2147483646 h 392"/>
              <a:gd name="T4" fmla="*/ 2147483646 w 1968"/>
              <a:gd name="T5" fmla="*/ 2147483646 h 392"/>
              <a:gd name="T6" fmla="*/ 2147483646 w 1968"/>
              <a:gd name="T7" fmla="*/ 2147483646 h 392"/>
              <a:gd name="T8" fmla="*/ 2147483646 w 1968"/>
              <a:gd name="T9" fmla="*/ 2147483646 h 392"/>
              <a:gd name="T10" fmla="*/ 2147483646 w 1968"/>
              <a:gd name="T11" fmla="*/ 2147483646 h 392"/>
              <a:gd name="T12" fmla="*/ 2147483646 w 1968"/>
              <a:gd name="T13" fmla="*/ 2147483646 h 3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68"/>
              <a:gd name="T22" fmla="*/ 0 h 392"/>
              <a:gd name="T23" fmla="*/ 1968 w 1968"/>
              <a:gd name="T24" fmla="*/ 392 h 3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68" h="392">
                <a:moveTo>
                  <a:pt x="0" y="392"/>
                </a:moveTo>
                <a:cubicBezTo>
                  <a:pt x="40" y="320"/>
                  <a:pt x="80" y="248"/>
                  <a:pt x="144" y="200"/>
                </a:cubicBezTo>
                <a:cubicBezTo>
                  <a:pt x="208" y="152"/>
                  <a:pt x="272" y="136"/>
                  <a:pt x="384" y="104"/>
                </a:cubicBezTo>
                <a:cubicBezTo>
                  <a:pt x="496" y="72"/>
                  <a:pt x="664" y="16"/>
                  <a:pt x="816" y="8"/>
                </a:cubicBezTo>
                <a:cubicBezTo>
                  <a:pt x="968" y="0"/>
                  <a:pt x="1144" y="24"/>
                  <a:pt x="1296" y="56"/>
                </a:cubicBezTo>
                <a:cubicBezTo>
                  <a:pt x="1448" y="88"/>
                  <a:pt x="1616" y="144"/>
                  <a:pt x="1728" y="200"/>
                </a:cubicBezTo>
                <a:cubicBezTo>
                  <a:pt x="1840" y="256"/>
                  <a:pt x="1944" y="328"/>
                  <a:pt x="1968" y="392"/>
                </a:cubicBezTo>
              </a:path>
            </a:pathLst>
          </a:custGeom>
          <a:noFill/>
          <a:ln w="28440" cap="sq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20" name="CuadroTexto 1">
            <a:extLst>
              <a:ext uri="{FF2B5EF4-FFF2-40B4-BE49-F238E27FC236}">
                <a16:creationId xmlns:a16="http://schemas.microsoft.com/office/drawing/2014/main" id="{AD0ED334-42D7-C878-4260-45810C80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49" y="2906711"/>
            <a:ext cx="130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s-CO" sz="1800">
                <a:solidFill>
                  <a:schemeClr val="tx1"/>
                </a:solidFill>
              </a:rPr>
              <a:t>mínima</a:t>
            </a:r>
            <a:endParaRPr lang="es-CO">
              <a:solidFill>
                <a:schemeClr val="tx1"/>
              </a:solidFill>
            </a:endParaRPr>
          </a:p>
        </p:txBody>
      </p:sp>
      <p:sp>
        <p:nvSpPr>
          <p:cNvPr id="21" name="CuadroTexto 19">
            <a:extLst>
              <a:ext uri="{FF2B5EF4-FFF2-40B4-BE49-F238E27FC236}">
                <a16:creationId xmlns:a16="http://schemas.microsoft.com/office/drawing/2014/main" id="{1FCD4DA1-8174-8A66-6C2B-2614085AA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089" y="4474368"/>
            <a:ext cx="130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s-CO" sz="1800" dirty="0">
                <a:solidFill>
                  <a:schemeClr val="tx1"/>
                </a:solidFill>
              </a:rPr>
              <a:t>máxima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2027E1E-571A-4690-9116-7DB8FC740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630" y="4955574"/>
            <a:ext cx="55054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6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896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5000"/>
              </a:lnSpc>
              <a:spcBef>
                <a:spcPts val="800"/>
              </a:spcBef>
              <a:buSzPct val="100000"/>
              <a:defRPr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Participación</a:t>
            </a:r>
          </a:p>
          <a:p>
            <a:pPr marL="269875" indent="-268288" algn="just" eaLnBrk="1" hangingPunct="1">
              <a:lnSpc>
                <a:spcPct val="95000"/>
              </a:lnSpc>
              <a:spcBef>
                <a:spcPts val="575"/>
              </a:spcBef>
              <a:buClr>
                <a:srgbClr val="0000FF"/>
              </a:buClr>
              <a:buSzPct val="100000"/>
              <a:buFont typeface="Wingdings 2" panose="05020102010507070707" pitchFamily="18" charset="2"/>
              <a:buChar char="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Observando la participación de las entidades en una relación podemos decir que puede ser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parcial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69875" indent="-268288" algn="just" eaLnBrk="1" hangingPunct="1">
              <a:lnSpc>
                <a:spcPct val="95000"/>
              </a:lnSpc>
              <a:spcBef>
                <a:spcPts val="575"/>
              </a:spcBef>
              <a:buClr>
                <a:srgbClr val="0000FF"/>
              </a:buClr>
              <a:buSzPct val="100000"/>
              <a:buFont typeface="Wingdings 2" panose="05020102010507070707" pitchFamily="18" charset="2"/>
              <a:buChar char="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participación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significa que todas las instancias de una entidad  </a:t>
            </a:r>
            <a:r>
              <a:rPr lang="es-CO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 de la relación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(línea doble)</a:t>
            </a:r>
            <a:r>
              <a:rPr lang="ar-SA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‏</a:t>
            </a:r>
            <a:endParaRPr lang="es-CO" sz="24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8288" algn="just" eaLnBrk="1" hangingPunct="1">
              <a:lnSpc>
                <a:spcPct val="95000"/>
              </a:lnSpc>
              <a:spcBef>
                <a:spcPts val="575"/>
              </a:spcBef>
              <a:buClr>
                <a:srgbClr val="0000FF"/>
              </a:buClr>
              <a:buSzPct val="100000"/>
              <a:buFont typeface="Wingdings 2" panose="05020102010507070707" pitchFamily="18" charset="2"/>
              <a:buChar char=""/>
              <a:defRPr/>
            </a:pP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participación </a:t>
            </a: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parcial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significa que algunas instancias de una entidad  </a:t>
            </a:r>
            <a:r>
              <a:rPr lang="es-CO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participan de la relación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(línea simple)</a:t>
            </a:r>
            <a:r>
              <a:rPr lang="ar-SA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‏</a:t>
            </a:r>
            <a:endParaRPr lang="es-CO" sz="24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7BF8540-50F3-8F90-1DF9-B62C3BAB2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70" y="5827716"/>
            <a:ext cx="1343025" cy="50323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BA7CA7B5-C813-0AD4-8A97-A65250AB1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108" y="5886454"/>
            <a:ext cx="11906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Libros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3F1A0519-5405-3C88-4393-FDB290CEB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45" y="5827716"/>
            <a:ext cx="1408113" cy="50323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A1D35C2C-D4FA-284A-7EBA-708DB0800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008" y="5899154"/>
            <a:ext cx="13319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Lectores</a:t>
            </a:r>
          </a:p>
        </p:txBody>
      </p:sp>
      <p:sp>
        <p:nvSpPr>
          <p:cNvPr id="26" name="Line 7">
            <a:extLst>
              <a:ext uri="{FF2B5EF4-FFF2-40B4-BE49-F238E27FC236}">
                <a16:creationId xmlns:a16="http://schemas.microsoft.com/office/drawing/2014/main" id="{A5A34C7F-FF69-8E3D-8168-EA876B17D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4095" y="6116641"/>
            <a:ext cx="838200" cy="1588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7" name="AutoShape 8">
            <a:extLst>
              <a:ext uri="{FF2B5EF4-FFF2-40B4-BE49-F238E27FC236}">
                <a16:creationId xmlns:a16="http://schemas.microsoft.com/office/drawing/2014/main" id="{D8CEC780-C674-5A02-FA1A-6E07019AC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95" y="5756279"/>
            <a:ext cx="1979613" cy="7334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28" name="Group 9">
            <a:extLst>
              <a:ext uri="{FF2B5EF4-FFF2-40B4-BE49-F238E27FC236}">
                <a16:creationId xmlns:a16="http://schemas.microsoft.com/office/drawing/2014/main" id="{42F5DDD1-FFB8-A0EC-B470-8F7FC6A73787}"/>
              </a:ext>
            </a:extLst>
          </p:cNvPr>
          <p:cNvGrpSpPr>
            <a:grpSpLocks/>
          </p:cNvGrpSpPr>
          <p:nvPr/>
        </p:nvGrpSpPr>
        <p:grpSpPr bwMode="auto">
          <a:xfrm>
            <a:off x="5643595" y="5894391"/>
            <a:ext cx="1449388" cy="366713"/>
            <a:chOff x="2290" y="3472"/>
            <a:chExt cx="913" cy="231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E6E49E20-ECA2-4955-FDEA-8F12861E4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526"/>
              <a:ext cx="913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0A1BACC4-021B-C429-D34A-26CFB5B16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47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800" i="1" dirty="0" err="1">
                  <a:latin typeface="Times New Roman" panose="02020603050405020304" pitchFamily="18" charset="0"/>
                </a:rPr>
                <a:t>gustan</a:t>
              </a:r>
              <a:endParaRPr lang="en-GB" sz="18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Line 12">
            <a:extLst>
              <a:ext uri="{FF2B5EF4-FFF2-40B4-BE49-F238E27FC236}">
                <a16:creationId xmlns:a16="http://schemas.microsoft.com/office/drawing/2014/main" id="{2F291631-7326-6CD5-665D-AEE842D65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6508" y="6118229"/>
            <a:ext cx="808037" cy="22225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5107A7E5-7060-8744-BA4F-66FA2EC82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858" y="4687891"/>
            <a:ext cx="1371600" cy="50323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id="{016AAEA3-D92D-FF59-855F-D13D7B73F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58" y="4748216"/>
            <a:ext cx="12239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Librería</a:t>
            </a:r>
          </a:p>
        </p:txBody>
      </p:sp>
      <p:sp>
        <p:nvSpPr>
          <p:cNvPr id="34" name="Line 17">
            <a:extLst>
              <a:ext uri="{FF2B5EF4-FFF2-40B4-BE49-F238E27FC236}">
                <a16:creationId xmlns:a16="http://schemas.microsoft.com/office/drawing/2014/main" id="{ED847569-0E62-9503-A0F7-A84902A46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5045" y="4964116"/>
            <a:ext cx="838200" cy="1588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5" name="Line 18">
            <a:extLst>
              <a:ext uri="{FF2B5EF4-FFF2-40B4-BE49-F238E27FC236}">
                <a16:creationId xmlns:a16="http://schemas.microsoft.com/office/drawing/2014/main" id="{2D929804-4C55-912C-6E90-814EF4D36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33" y="4964116"/>
            <a:ext cx="835025" cy="0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D90E657F-69ED-E6AA-19FF-1502F73399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85270" y="5383216"/>
            <a:ext cx="1588" cy="457200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EF37289D-DC0C-48CB-591E-8D4808674E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44958" y="5383216"/>
            <a:ext cx="19050" cy="427038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8" name="AutoShape 25">
            <a:extLst>
              <a:ext uri="{FF2B5EF4-FFF2-40B4-BE49-F238E27FC236}">
                <a16:creationId xmlns:a16="http://schemas.microsoft.com/office/drawing/2014/main" id="{F14BB34A-D7F9-B67F-E553-07C8F076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83" y="4100516"/>
            <a:ext cx="1943100" cy="361950"/>
          </a:xfrm>
          <a:prstGeom prst="wedgeRoundRectCallout">
            <a:avLst>
              <a:gd name="adj1" fmla="val -574"/>
              <a:gd name="adj2" fmla="val 133333"/>
              <a:gd name="adj3" fmla="val 16667"/>
            </a:avLst>
          </a:prstGeom>
          <a:solidFill>
            <a:srgbClr val="D1D1D1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CO" sz="1500">
                <a:solidFill>
                  <a:srgbClr val="FF0000"/>
                </a:solidFill>
                <a:latin typeface="Arial" panose="020B0604020202020204" pitchFamily="34" charset="0"/>
              </a:rPr>
              <a:t>Participación</a:t>
            </a:r>
            <a:r>
              <a:rPr lang="en-GB" sz="1500" b="1">
                <a:solidFill>
                  <a:srgbClr val="FF0000"/>
                </a:solidFill>
                <a:latin typeface="Arial" panose="020B0604020202020204" pitchFamily="34" charset="0"/>
              </a:rPr>
              <a:t> Total</a:t>
            </a:r>
          </a:p>
        </p:txBody>
      </p:sp>
      <p:sp>
        <p:nvSpPr>
          <p:cNvPr id="39" name="AutoShape 26">
            <a:extLst>
              <a:ext uri="{FF2B5EF4-FFF2-40B4-BE49-F238E27FC236}">
                <a16:creationId xmlns:a16="http://schemas.microsoft.com/office/drawing/2014/main" id="{122B5DDC-ED51-CEE3-B45A-ED0F0A66A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83" y="4603754"/>
            <a:ext cx="1697037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40" name="Group 27">
            <a:extLst>
              <a:ext uri="{FF2B5EF4-FFF2-40B4-BE49-F238E27FC236}">
                <a16:creationId xmlns:a16="http://schemas.microsoft.com/office/drawing/2014/main" id="{0B3B0659-1975-C411-3945-40A2B43D4FAC}"/>
              </a:ext>
            </a:extLst>
          </p:cNvPr>
          <p:cNvGrpSpPr>
            <a:grpSpLocks/>
          </p:cNvGrpSpPr>
          <p:nvPr/>
        </p:nvGrpSpPr>
        <p:grpSpPr bwMode="auto">
          <a:xfrm>
            <a:off x="3303620" y="4738691"/>
            <a:ext cx="1039813" cy="396875"/>
            <a:chOff x="816" y="2744"/>
            <a:chExt cx="655" cy="250"/>
          </a:xfrm>
        </p:grpSpPr>
        <p:sp>
          <p:nvSpPr>
            <p:cNvPr id="41" name="AutoShape 28">
              <a:extLst>
                <a:ext uri="{FF2B5EF4-FFF2-40B4-BE49-F238E27FC236}">
                  <a16:creationId xmlns:a16="http://schemas.microsoft.com/office/drawing/2014/main" id="{CA288B38-8CD1-6CC3-9340-B7722B7A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09"/>
              <a:ext cx="655" cy="119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42" name="Text Box 29">
              <a:extLst>
                <a:ext uri="{FF2B5EF4-FFF2-40B4-BE49-F238E27FC236}">
                  <a16:creationId xmlns:a16="http://schemas.microsoft.com/office/drawing/2014/main" id="{655D6719-37CA-09A5-18D9-3B38BE5B6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744"/>
              <a:ext cx="6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>
                  <a:latin typeface="Times New Roman" panose="02020603050405020304" pitchFamily="18" charset="0"/>
                </a:rPr>
                <a:t>ofrece</a:t>
              </a:r>
            </a:p>
          </p:txBody>
        </p:sp>
      </p:grpSp>
      <p:sp>
        <p:nvSpPr>
          <p:cNvPr id="43" name="AutoShape 30">
            <a:extLst>
              <a:ext uri="{FF2B5EF4-FFF2-40B4-BE49-F238E27FC236}">
                <a16:creationId xmlns:a16="http://schemas.microsoft.com/office/drawing/2014/main" id="{4B18EE1B-6FED-5065-C878-3CF4F3C37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308" y="4532316"/>
            <a:ext cx="2016125" cy="86360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44" name="AutoShape 31">
            <a:extLst>
              <a:ext uri="{FF2B5EF4-FFF2-40B4-BE49-F238E27FC236}">
                <a16:creationId xmlns:a16="http://schemas.microsoft.com/office/drawing/2014/main" id="{A18E73DF-0523-CF37-40A6-0962739F8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1195" y="4603754"/>
            <a:ext cx="1697038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45" name="Group 32">
            <a:extLst>
              <a:ext uri="{FF2B5EF4-FFF2-40B4-BE49-F238E27FC236}">
                <a16:creationId xmlns:a16="http://schemas.microsoft.com/office/drawing/2014/main" id="{0958E659-71DC-9177-B8C1-C7BFD3F42009}"/>
              </a:ext>
            </a:extLst>
          </p:cNvPr>
          <p:cNvGrpSpPr>
            <a:grpSpLocks/>
          </p:cNvGrpSpPr>
          <p:nvPr/>
        </p:nvGrpSpPr>
        <p:grpSpPr bwMode="auto">
          <a:xfrm>
            <a:off x="8343933" y="4738691"/>
            <a:ext cx="1039812" cy="396875"/>
            <a:chOff x="3991" y="2744"/>
            <a:chExt cx="655" cy="250"/>
          </a:xfrm>
        </p:grpSpPr>
        <p:sp>
          <p:nvSpPr>
            <p:cNvPr id="46" name="AutoShape 33">
              <a:extLst>
                <a:ext uri="{FF2B5EF4-FFF2-40B4-BE49-F238E27FC236}">
                  <a16:creationId xmlns:a16="http://schemas.microsoft.com/office/drawing/2014/main" id="{66071E0A-54B0-4E38-2CBC-82957821D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09"/>
              <a:ext cx="655" cy="119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47" name="Text Box 34">
              <a:extLst>
                <a:ext uri="{FF2B5EF4-FFF2-40B4-BE49-F238E27FC236}">
                  <a16:creationId xmlns:a16="http://schemas.microsoft.com/office/drawing/2014/main" id="{EF6FBBBB-AB6D-5F45-992A-9FADB6EAB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" y="2744"/>
              <a:ext cx="6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>
                  <a:latin typeface="Times New Roman" panose="02020603050405020304" pitchFamily="18" charset="0"/>
                </a:rPr>
                <a:t>visita</a:t>
              </a:r>
            </a:p>
          </p:txBody>
        </p:sp>
      </p:grpSp>
      <p:sp>
        <p:nvSpPr>
          <p:cNvPr id="48" name="AutoShape 35">
            <a:extLst>
              <a:ext uri="{FF2B5EF4-FFF2-40B4-BE49-F238E27FC236}">
                <a16:creationId xmlns:a16="http://schemas.microsoft.com/office/drawing/2014/main" id="{68431136-2266-0BD5-383F-2E381F677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620" y="4532316"/>
            <a:ext cx="2016125" cy="86360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49" name="AutoShape 36">
            <a:extLst>
              <a:ext uri="{FF2B5EF4-FFF2-40B4-BE49-F238E27FC236}">
                <a16:creationId xmlns:a16="http://schemas.microsoft.com/office/drawing/2014/main" id="{B4009EBD-F753-3506-734F-A1B51BAEE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508" y="5180016"/>
            <a:ext cx="1439862" cy="576263"/>
          </a:xfrm>
          <a:prstGeom prst="wedgeRoundRectCallout">
            <a:avLst>
              <a:gd name="adj1" fmla="val -83847"/>
              <a:gd name="adj2" fmla="val 3995"/>
              <a:gd name="adj3" fmla="val 16667"/>
            </a:avLst>
          </a:prstGeom>
          <a:solidFill>
            <a:srgbClr val="D1D1D1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sz="1500">
                <a:solidFill>
                  <a:srgbClr val="FF0000"/>
                </a:solidFill>
                <a:latin typeface="Arial" panose="020B0604020202020204" pitchFamily="34" charset="0"/>
              </a:rPr>
              <a:t>Participación </a:t>
            </a:r>
            <a:r>
              <a:rPr lang="en-GB" sz="1500" b="1">
                <a:solidFill>
                  <a:srgbClr val="FF0000"/>
                </a:solidFill>
                <a:latin typeface="Arial" panose="020B0604020202020204" pitchFamily="34" charset="0"/>
              </a:rPr>
              <a:t>Parcial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97BE2A05-B45F-DA5E-9491-602B1B9CC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1395" y="6163940"/>
            <a:ext cx="838200" cy="1588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7545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700"/>
              </a:spcBef>
              <a:buSzPct val="100000"/>
              <a:defRPr/>
            </a:pPr>
            <a:r>
              <a:rPr lang="es-CO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de Entidad</a:t>
            </a:r>
          </a:p>
          <a:p>
            <a:pPr marL="269875" indent="-268288"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  <a:defRPr/>
            </a:pPr>
            <a:r>
              <a:rPr lang="es-CO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Atributo o conjunto de atributos que identifican de forma única cada ocurrencia.</a:t>
            </a:r>
          </a:p>
          <a:p>
            <a:pPr marL="269875" indent="-268288"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  <a:defRPr/>
            </a:pPr>
            <a:r>
              <a:rPr lang="es-CO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una entidad no tiene clave se dice que es débil y que tiene dependencia de Identificación.</a:t>
            </a:r>
          </a:p>
          <a:p>
            <a:pPr marL="269875" indent="-268288" eaLnBrk="1" hangingPunct="1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  <a:defRPr/>
            </a:pPr>
            <a:r>
              <a:rPr lang="es-CO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entidad es débil si depende de la existencia de otra entidad.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6311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es-CO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Dependencia de Identificación (ID)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– La entidad no tiene clave primaria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CF9E434-F456-3C56-C833-248E46A78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332" y="5064918"/>
            <a:ext cx="8568952" cy="1212769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  <a:buClrTx/>
              <a:buFontTx/>
              <a:buNone/>
            </a:pPr>
            <a:r>
              <a:rPr lang="es-CO" sz="2200" dirty="0">
                <a:latin typeface="Arial" panose="020B0604020202020204" pitchFamily="34" charset="0"/>
              </a:rPr>
              <a:t>Si la Factura tiene códigos que se repiten por cliente, </a:t>
            </a:r>
            <a:r>
              <a:rPr lang="es-CO" sz="2200" dirty="0">
                <a:solidFill>
                  <a:srgbClr val="FF0000"/>
                </a:solidFill>
                <a:latin typeface="Arial" panose="020B0604020202020204" pitchFamily="34" charset="0"/>
              </a:rPr>
              <a:t>no tendrá clave</a:t>
            </a:r>
            <a:r>
              <a:rPr lang="es-CO" sz="2200" dirty="0">
                <a:latin typeface="Arial" panose="020B0604020202020204" pitchFamily="34" charset="0"/>
              </a:rPr>
              <a:t>, pero sí un </a:t>
            </a:r>
            <a:r>
              <a:rPr lang="es-CO" sz="2200" b="1" dirty="0">
                <a:solidFill>
                  <a:srgbClr val="0000FF"/>
                </a:solidFill>
                <a:latin typeface="Arial" panose="020B0604020202020204" pitchFamily="34" charset="0"/>
              </a:rPr>
              <a:t>discriminador.</a:t>
            </a:r>
          </a:p>
          <a:p>
            <a:pPr eaLnBrk="1" hangingPunct="1">
              <a:spcBef>
                <a:spcPts val="800"/>
              </a:spcBef>
              <a:buClrTx/>
              <a:buFontTx/>
              <a:buNone/>
            </a:pPr>
            <a:r>
              <a:rPr lang="es-CO" sz="2200" dirty="0">
                <a:latin typeface="Arial" panose="020B0604020202020204" pitchFamily="34" charset="0"/>
              </a:rPr>
              <a:t>Facturas tiene </a:t>
            </a:r>
            <a:r>
              <a:rPr lang="es-CO" sz="2200" b="1" dirty="0">
                <a:solidFill>
                  <a:srgbClr val="0000FF"/>
                </a:solidFill>
                <a:latin typeface="Arial" panose="020B0604020202020204" pitchFamily="34" charset="0"/>
              </a:rPr>
              <a:t>dependencia</a:t>
            </a:r>
            <a:r>
              <a:rPr lang="es-CO" sz="2200" b="1" dirty="0">
                <a:latin typeface="Arial" panose="020B0604020202020204" pitchFamily="34" charset="0"/>
              </a:rPr>
              <a:t> </a:t>
            </a:r>
            <a:r>
              <a:rPr lang="es-CO" sz="2200" b="1" dirty="0">
                <a:solidFill>
                  <a:srgbClr val="0000FF"/>
                </a:solidFill>
                <a:latin typeface="Arial" panose="020B0604020202020204" pitchFamily="34" charset="0"/>
              </a:rPr>
              <a:t>de Identificación</a:t>
            </a:r>
            <a:r>
              <a:rPr lang="es-CO" sz="2200" b="1" dirty="0">
                <a:latin typeface="Arial" panose="020B0604020202020204" pitchFamily="34" charset="0"/>
              </a:rPr>
              <a:t> </a:t>
            </a:r>
            <a:r>
              <a:rPr lang="es-CO" sz="2200" dirty="0">
                <a:latin typeface="Arial" panose="020B0604020202020204" pitchFamily="34" charset="0"/>
              </a:rPr>
              <a:t>respecto de Cliente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8B8C1-ECE7-7FEC-40E3-C2A2C6775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829" y="2904330"/>
            <a:ext cx="1143000" cy="74453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8CC332A-BE40-F867-6BD5-C15BF1A04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9029" y="3132930"/>
            <a:ext cx="1066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E5EEF5F8-E731-DA3B-EA81-C3DE8EFB6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767" y="3264693"/>
            <a:ext cx="647700" cy="1587"/>
          </a:xfrm>
          <a:prstGeom prst="line">
            <a:avLst/>
          </a:prstGeom>
          <a:noFill/>
          <a:ln w="507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6DC219DA-2A1F-4C0C-2427-284A0453D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929" y="2904330"/>
            <a:ext cx="1371600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1FD471BA-0F9B-AA56-BD20-71404F9C05E6}"/>
              </a:ext>
            </a:extLst>
          </p:cNvPr>
          <p:cNvGrpSpPr>
            <a:grpSpLocks/>
          </p:cNvGrpSpPr>
          <p:nvPr/>
        </p:nvGrpSpPr>
        <p:grpSpPr bwMode="auto">
          <a:xfrm>
            <a:off x="6141829" y="3039268"/>
            <a:ext cx="928688" cy="396875"/>
            <a:chOff x="2789" y="2018"/>
            <a:chExt cx="585" cy="250"/>
          </a:xfrm>
        </p:grpSpPr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DBDF6F51-6426-2D44-FE0A-5B7104BA1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83"/>
              <a:ext cx="585" cy="120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2596DE32-A525-A0FC-9EA8-FEA88B458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018"/>
              <a:ext cx="5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 dirty="0" err="1">
                  <a:latin typeface="Times New Roman" panose="02020603050405020304" pitchFamily="18" charset="0"/>
                </a:rPr>
                <a:t>posee</a:t>
              </a:r>
              <a:endParaRPr lang="en-GB" sz="20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Line 11">
            <a:extLst>
              <a:ext uri="{FF2B5EF4-FFF2-40B4-BE49-F238E27FC236}">
                <a16:creationId xmlns:a16="http://schemas.microsoft.com/office/drawing/2014/main" id="{138F521B-C419-6EBF-527D-9C7A817E9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8817" y="3264693"/>
            <a:ext cx="693737" cy="1587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ACFAA1AE-807C-A5DD-5248-6D24460FF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329" y="2569368"/>
            <a:ext cx="1082675" cy="3302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5983F020-CD75-E816-C8C7-67B45CCA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2842" y="2569368"/>
            <a:ext cx="5778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ccNro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C1E188D4-E7A4-5082-0214-AF81B23E7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329" y="3124993"/>
            <a:ext cx="1154113" cy="309562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B2A400D5-7414-8E1D-3735-A2393D29F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817" y="3145630"/>
            <a:ext cx="7905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dirección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A26EE6B1-60D3-A26E-121A-A4CD14D2F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329" y="3532980"/>
            <a:ext cx="1154113" cy="331788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07C25959-8124-4D1D-66BA-57C70B04A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817" y="3577430"/>
            <a:ext cx="698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nombre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EE8A5A0-5DCF-62BB-AF06-9A7ADA1D1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5004" y="2712243"/>
            <a:ext cx="381000" cy="301625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4F160779-B87D-1C2E-EB12-F6FB9D532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442" y="3288505"/>
            <a:ext cx="3048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C2AA0FF6-5396-6687-26FC-0432A6C19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092" y="2883693"/>
            <a:ext cx="1219200" cy="7620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01C53F67-5A46-1628-AFAD-1DFF4F9EEB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6442" y="3491705"/>
            <a:ext cx="304800" cy="2428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C81FBC0D-169F-351C-FA4D-29BCEAA6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292" y="2959893"/>
            <a:ext cx="1066800" cy="609600"/>
          </a:xfrm>
          <a:prstGeom prst="rect">
            <a:avLst/>
          </a:prstGeom>
          <a:solidFill>
            <a:srgbClr val="CCCC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8472F9A2-4B81-481A-E4A3-E1E17198D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292" y="3036093"/>
            <a:ext cx="1066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Factura</a:t>
            </a:r>
          </a:p>
        </p:txBody>
      </p:sp>
      <p:sp>
        <p:nvSpPr>
          <p:cNvPr id="26" name="Oval 26">
            <a:extLst>
              <a:ext uri="{FF2B5EF4-FFF2-40B4-BE49-F238E27FC236}">
                <a16:creationId xmlns:a16="http://schemas.microsoft.com/office/drawing/2014/main" id="{9742E011-C34A-331D-6388-D2638D0B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992" y="2132805"/>
            <a:ext cx="12954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3FAD0C66-8F6F-48D8-4DAC-E3B82BCB5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792" y="2209005"/>
            <a:ext cx="6318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código</a:t>
            </a:r>
          </a:p>
        </p:txBody>
      </p:sp>
      <p:sp>
        <p:nvSpPr>
          <p:cNvPr id="28" name="Oval 28">
            <a:extLst>
              <a:ext uri="{FF2B5EF4-FFF2-40B4-BE49-F238E27FC236}">
                <a16:creationId xmlns:a16="http://schemas.microsoft.com/office/drawing/2014/main" id="{29BE6E80-2E98-7E5A-3518-520D45E15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992" y="3961605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DBB6FBB2-3FEC-0C28-90D8-B071E08F0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6404" y="4037805"/>
            <a:ext cx="511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valor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C3C19B6F-946D-017F-B388-044D96E1C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2792" y="2513805"/>
            <a:ext cx="1587" cy="3810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5EE7FE0D-8A01-80FB-12ED-E3282382A0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2792" y="3644105"/>
            <a:ext cx="1587" cy="3302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6721BD02-964D-0570-497A-B4604892A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492" y="3950493"/>
            <a:ext cx="1066800" cy="276225"/>
          </a:xfrm>
          <a:prstGeom prst="rect">
            <a:avLst/>
          </a:prstGeom>
          <a:noFill/>
          <a:ln w="1260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Entidad débil</a:t>
            </a:r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66D5D997-BA7C-DBFC-2843-69073BAB51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9292" y="3632993"/>
            <a:ext cx="685800" cy="330200"/>
          </a:xfrm>
          <a:prstGeom prst="line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B75D9A6D-0165-E719-8FBB-58C7E820B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467" y="2832893"/>
            <a:ext cx="1657350" cy="86360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6742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800"/>
              </a:spcBef>
              <a:buClrTx/>
              <a:buFontTx/>
              <a:buNone/>
            </a:pPr>
            <a:r>
              <a:rPr lang="es-CO" sz="2400" b="1" dirty="0">
                <a:solidFill>
                  <a:srgbClr val="0000FF"/>
                </a:solidFill>
                <a:latin typeface="Arial" panose="020B0604020202020204" pitchFamily="34" charset="0"/>
              </a:rPr>
              <a:t>Dependencia de Existencia</a:t>
            </a:r>
            <a:r>
              <a:rPr lang="es-CO" sz="24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</a:rPr>
              <a:t>– La existencia de una ocurrencia de entidad depende de la existencia de otra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EF759D08-E3D8-09CF-00AD-BB1C754D1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564" y="4852252"/>
            <a:ext cx="8353425" cy="1110177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just" eaLnBrk="1" hangingPunct="1">
              <a:spcBef>
                <a:spcPts val="800"/>
              </a:spcBef>
              <a:buClrTx/>
              <a:buFontTx/>
              <a:buNone/>
            </a:pPr>
            <a:r>
              <a:rPr lang="es-MX" sz="2200" dirty="0">
                <a:latin typeface="Arial" panose="020B0604020202020204" pitchFamily="34" charset="0"/>
              </a:rPr>
              <a:t>Aunque la Factura tenga clave, si se elimina un cliente hay que </a:t>
            </a:r>
            <a:r>
              <a:rPr lang="es-MX" sz="2200" b="1" i="1" dirty="0">
                <a:solidFill>
                  <a:srgbClr val="FF0000"/>
                </a:solidFill>
                <a:latin typeface="Arial" panose="020B0604020202020204" pitchFamily="34" charset="0"/>
              </a:rPr>
              <a:t>dar de baja </a:t>
            </a:r>
            <a:r>
              <a:rPr lang="es-MX" sz="2200" dirty="0">
                <a:latin typeface="Arial" panose="020B0604020202020204" pitchFamily="34" charset="0"/>
              </a:rPr>
              <a:t>todas sus facturas, </a:t>
            </a:r>
            <a:r>
              <a:rPr lang="es-MX" sz="2200" b="1" dirty="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rPr>
              <a:t>¡entonces la Factura depende de la existencia del Cliente!</a:t>
            </a:r>
            <a:endParaRPr lang="es-CO" sz="2200" b="1" dirty="0">
              <a:solidFill>
                <a:srgbClr val="0000FF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846113C3-6A4F-B534-A228-26A9AE65A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276" y="2902802"/>
            <a:ext cx="1143000" cy="8382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7" name="Text Box 5">
            <a:extLst>
              <a:ext uri="{FF2B5EF4-FFF2-40B4-BE49-F238E27FC236}">
                <a16:creationId xmlns:a16="http://schemas.microsoft.com/office/drawing/2014/main" id="{5B528829-F3F8-B9C7-2C70-E2E0E7CC4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476" y="3131402"/>
            <a:ext cx="1066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EDD2A5F0-959C-5ACC-17FF-9D005A283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876" y="2445602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9" name="Text Box 8">
            <a:extLst>
              <a:ext uri="{FF2B5EF4-FFF2-40B4-BE49-F238E27FC236}">
                <a16:creationId xmlns:a16="http://schemas.microsoft.com/office/drawing/2014/main" id="{DD31C1DE-3112-4921-57BD-2009A968A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876" y="2521802"/>
            <a:ext cx="5778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ccNro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3CF21045-E05E-84F0-A2ED-17565494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876" y="2979002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1" name="Text Box 10">
            <a:extLst>
              <a:ext uri="{FF2B5EF4-FFF2-40B4-BE49-F238E27FC236}">
                <a16:creationId xmlns:a16="http://schemas.microsoft.com/office/drawing/2014/main" id="{A03BAF82-47A7-88DB-CB82-9EB8EDA4F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876" y="3055202"/>
            <a:ext cx="7921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direccion</a:t>
            </a:r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D6FB5317-0D20-E56A-76F3-677C7BA68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876" y="3512402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43" name="Text Box 12">
            <a:extLst>
              <a:ext uri="{FF2B5EF4-FFF2-40B4-BE49-F238E27FC236}">
                <a16:creationId xmlns:a16="http://schemas.microsoft.com/office/drawing/2014/main" id="{130391BD-2414-F236-5AB3-5B3D32B8D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876" y="3588602"/>
            <a:ext cx="698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nombre</a:t>
            </a: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766581AE-76AD-B6DF-69D6-E0626B762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476" y="2674202"/>
            <a:ext cx="381000" cy="2286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5" name="Line 14">
            <a:extLst>
              <a:ext uri="{FF2B5EF4-FFF2-40B4-BE49-F238E27FC236}">
                <a16:creationId xmlns:a16="http://schemas.microsoft.com/office/drawing/2014/main" id="{17B92120-E8B9-7DFE-1F5A-E8EE75ECF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476" y="3131402"/>
            <a:ext cx="3048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6" name="Line 15">
            <a:extLst>
              <a:ext uri="{FF2B5EF4-FFF2-40B4-BE49-F238E27FC236}">
                <a16:creationId xmlns:a16="http://schemas.microsoft.com/office/drawing/2014/main" id="{915F64FF-FC8B-A30D-B76B-B71F30DAA9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0476" y="3499702"/>
            <a:ext cx="304800" cy="1778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7" name="AutoShape 16">
            <a:extLst>
              <a:ext uri="{FF2B5EF4-FFF2-40B4-BE49-F238E27FC236}">
                <a16:creationId xmlns:a16="http://schemas.microsoft.com/office/drawing/2014/main" id="{832C58C9-EE1E-F933-EB22-D2A0988DA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976" y="2920091"/>
            <a:ext cx="1792287" cy="87598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48" name="Group 17">
            <a:extLst>
              <a:ext uri="{FF2B5EF4-FFF2-40B4-BE49-F238E27FC236}">
                <a16:creationId xmlns:a16="http://schemas.microsoft.com/office/drawing/2014/main" id="{FB69E3F1-A7C1-16AB-FA83-26BB308CD142}"/>
              </a:ext>
            </a:extLst>
          </p:cNvPr>
          <p:cNvGrpSpPr>
            <a:grpSpLocks/>
          </p:cNvGrpSpPr>
          <p:nvPr/>
        </p:nvGrpSpPr>
        <p:grpSpPr bwMode="auto">
          <a:xfrm>
            <a:off x="6106812" y="2969478"/>
            <a:ext cx="1019174" cy="679450"/>
            <a:chOff x="2789" y="1914"/>
            <a:chExt cx="642" cy="428"/>
          </a:xfrm>
        </p:grpSpPr>
        <p:sp>
          <p:nvSpPr>
            <p:cNvPr id="49" name="AutoShape 18">
              <a:extLst>
                <a:ext uri="{FF2B5EF4-FFF2-40B4-BE49-F238E27FC236}">
                  <a16:creationId xmlns:a16="http://schemas.microsoft.com/office/drawing/2014/main" id="{E8A7F5C6-A197-40E0-E52B-13522B4E2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83"/>
              <a:ext cx="585" cy="120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50" name="Text Box 19">
              <a:extLst>
                <a:ext uri="{FF2B5EF4-FFF2-40B4-BE49-F238E27FC236}">
                  <a16:creationId xmlns:a16="http://schemas.microsoft.com/office/drawing/2014/main" id="{65B63CEC-A002-B816-B837-DE412FB2A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1914"/>
              <a:ext cx="584" cy="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2000" i="1" dirty="0">
                  <a:latin typeface="Times New Roman" panose="02020603050405020304" pitchFamily="18" charset="0"/>
                </a:rPr>
                <a:t>Se genera</a:t>
              </a:r>
            </a:p>
          </p:txBody>
        </p:sp>
      </p:grpSp>
      <p:sp>
        <p:nvSpPr>
          <p:cNvPr id="51" name="Line 20">
            <a:extLst>
              <a:ext uri="{FF2B5EF4-FFF2-40B4-BE49-F238E27FC236}">
                <a16:creationId xmlns:a16="http://schemas.microsoft.com/office/drawing/2014/main" id="{00A57F3F-04C4-FC46-9397-EE7A05351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0976" y="3371112"/>
            <a:ext cx="419100" cy="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2" name="Rectangle 22">
            <a:extLst>
              <a:ext uri="{FF2B5EF4-FFF2-40B4-BE49-F238E27FC236}">
                <a16:creationId xmlns:a16="http://schemas.microsoft.com/office/drawing/2014/main" id="{C036C1C7-BE60-B4C8-0625-F29428558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076" y="2979002"/>
            <a:ext cx="1219200" cy="7620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3" name="Rectangle 23">
            <a:extLst>
              <a:ext uri="{FF2B5EF4-FFF2-40B4-BE49-F238E27FC236}">
                <a16:creationId xmlns:a16="http://schemas.microsoft.com/office/drawing/2014/main" id="{A0422CED-43B0-7CD1-0449-22024466F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276" y="3055202"/>
            <a:ext cx="1066800" cy="609600"/>
          </a:xfrm>
          <a:prstGeom prst="rect">
            <a:avLst/>
          </a:prstGeom>
          <a:solidFill>
            <a:srgbClr val="CCCC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4872EE90-7510-89A4-5B16-961FFD331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276" y="3131402"/>
            <a:ext cx="1066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GB" sz="1800" b="1" i="1">
                <a:latin typeface="Arial" panose="020B0604020202020204" pitchFamily="34" charset="0"/>
              </a:rPr>
              <a:t>Factura</a:t>
            </a:r>
          </a:p>
        </p:txBody>
      </p:sp>
      <p:sp>
        <p:nvSpPr>
          <p:cNvPr id="55" name="Oval 25">
            <a:extLst>
              <a:ext uri="{FF2B5EF4-FFF2-40B4-BE49-F238E27FC236}">
                <a16:creationId xmlns:a16="http://schemas.microsoft.com/office/drawing/2014/main" id="{6235CF67-C4AC-1C67-74C9-618B1F0D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1976" y="2228115"/>
            <a:ext cx="12954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6" name="Text Box 26">
            <a:extLst>
              <a:ext uri="{FF2B5EF4-FFF2-40B4-BE49-F238E27FC236}">
                <a16:creationId xmlns:a16="http://schemas.microsoft.com/office/drawing/2014/main" id="{58726505-9DCB-4C3C-37E0-AE8CC83B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6776" y="2304315"/>
            <a:ext cx="6318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código</a:t>
            </a:r>
          </a:p>
        </p:txBody>
      </p:sp>
      <p:sp>
        <p:nvSpPr>
          <p:cNvPr id="57" name="Oval 27">
            <a:extLst>
              <a:ext uri="{FF2B5EF4-FFF2-40B4-BE49-F238E27FC236}">
                <a16:creationId xmlns:a16="http://schemas.microsoft.com/office/drawing/2014/main" id="{89093424-9493-5EE2-9552-6AD581769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1976" y="4056915"/>
            <a:ext cx="1371600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8" name="Text Box 28">
            <a:extLst>
              <a:ext uri="{FF2B5EF4-FFF2-40B4-BE49-F238E27FC236}">
                <a16:creationId xmlns:a16="http://schemas.microsoft.com/office/drawing/2014/main" id="{9726710E-8EEC-8F7B-FD55-2F3DD2D85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389" y="4133115"/>
            <a:ext cx="511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valor</a:t>
            </a:r>
          </a:p>
        </p:txBody>
      </p:sp>
      <p:sp>
        <p:nvSpPr>
          <p:cNvPr id="59" name="Line 29">
            <a:extLst>
              <a:ext uri="{FF2B5EF4-FFF2-40B4-BE49-F238E27FC236}">
                <a16:creationId xmlns:a16="http://schemas.microsoft.com/office/drawing/2014/main" id="{62B39ED9-03FF-923D-DFFB-661DB6D80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7776" y="2609115"/>
            <a:ext cx="1588" cy="3810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0" name="Line 30">
            <a:extLst>
              <a:ext uri="{FF2B5EF4-FFF2-40B4-BE49-F238E27FC236}">
                <a16:creationId xmlns:a16="http://schemas.microsoft.com/office/drawing/2014/main" id="{E4304B57-6D19-CCF2-B213-92D07017EA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27776" y="3781556"/>
            <a:ext cx="0" cy="273544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1" name="Text Box 31">
            <a:extLst>
              <a:ext uri="{FF2B5EF4-FFF2-40B4-BE49-F238E27FC236}">
                <a16:creationId xmlns:a16="http://schemas.microsoft.com/office/drawing/2014/main" id="{9735694C-F0CC-753E-D258-81FFED9EC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476" y="4045802"/>
            <a:ext cx="1066800" cy="276225"/>
          </a:xfrm>
          <a:prstGeom prst="rect">
            <a:avLst/>
          </a:prstGeom>
          <a:noFill/>
          <a:ln w="1260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Entidad débil</a:t>
            </a:r>
          </a:p>
        </p:txBody>
      </p:sp>
      <p:sp>
        <p:nvSpPr>
          <p:cNvPr id="62" name="Line 32">
            <a:extLst>
              <a:ext uri="{FF2B5EF4-FFF2-40B4-BE49-F238E27FC236}">
                <a16:creationId xmlns:a16="http://schemas.microsoft.com/office/drawing/2014/main" id="{15B05DE0-0A6F-CCFE-1E95-1015B205F3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4276" y="3728302"/>
            <a:ext cx="685800" cy="330200"/>
          </a:xfrm>
          <a:prstGeom prst="line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3" name="AutoShape 33">
            <a:extLst>
              <a:ext uri="{FF2B5EF4-FFF2-40B4-BE49-F238E27FC236}">
                <a16:creationId xmlns:a16="http://schemas.microsoft.com/office/drawing/2014/main" id="{5EE8BBCF-14ED-24FF-008C-CF0AF587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277" y="2860416"/>
            <a:ext cx="1997699" cy="1004409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64" name="Line 34">
            <a:extLst>
              <a:ext uri="{FF2B5EF4-FFF2-40B4-BE49-F238E27FC236}">
                <a16:creationId xmlns:a16="http://schemas.microsoft.com/office/drawing/2014/main" id="{5BD13983-0528-F3B0-E993-369D00A1E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8751" y="3360001"/>
            <a:ext cx="588962" cy="22223"/>
          </a:xfrm>
          <a:prstGeom prst="line">
            <a:avLst/>
          </a:prstGeom>
          <a:noFill/>
          <a:ln w="63500" cap="sq" cmpd="dbl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220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A28050C7-4C56-6A0A-810D-D9149514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563" y="4685033"/>
            <a:ext cx="1371600" cy="57626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706CAF8-F257-B936-2CE4-C3EFF662F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96" y="1181819"/>
            <a:ext cx="77628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es-CO" sz="2800" dirty="0"/>
              <a:t>Ejemplo: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73DB14-719B-693E-D7D7-9BDBE71CC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369" y="2558975"/>
            <a:ext cx="1143000" cy="503237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9031919-C778-ADC0-4D46-4BBCB73C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769" y="2652637"/>
            <a:ext cx="8382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D56D0D83-02F0-C616-2B34-639583EE6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894" y="2846312"/>
            <a:ext cx="1150938" cy="1588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AA59B314-FA61-0596-B73A-FEA45163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882" y="2558975"/>
            <a:ext cx="1300162" cy="57785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FDB39646-F7E1-43BF-BCD5-944D61FCF344}"/>
              </a:ext>
            </a:extLst>
          </p:cNvPr>
          <p:cNvGrpSpPr>
            <a:grpSpLocks/>
          </p:cNvGrpSpPr>
          <p:nvPr/>
        </p:nvGrpSpPr>
        <p:grpSpPr bwMode="auto">
          <a:xfrm>
            <a:off x="6826744" y="2684387"/>
            <a:ext cx="1144588" cy="304800"/>
            <a:chOff x="3090" y="1740"/>
            <a:chExt cx="721" cy="192"/>
          </a:xfrm>
        </p:grpSpPr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4FE2E37C-9033-AF2A-BAE7-08FC88BE1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1776"/>
              <a:ext cx="721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B0C6088E-9670-0F05-2A60-BF536E7DF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1740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compra</a:t>
              </a:r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79310CD5-B93B-5578-6E0F-9AE73BE9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2157" y="2846312"/>
            <a:ext cx="647700" cy="1588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DD74CE-BAC1-1A04-8209-3E2C11514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544" y="2198612"/>
            <a:ext cx="838200" cy="296863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797A3AA5-D8F9-4109-0C27-7DFD445A5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944" y="2190675"/>
            <a:ext cx="5778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ccNro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47F673-2BAA-7789-D7BC-69A2B5E6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969" y="2630412"/>
            <a:ext cx="990600" cy="327025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FB68BDD6-0E2F-10E8-EFA2-DB9C4758B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5169" y="2652637"/>
            <a:ext cx="7921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dirección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D916C-5A35-A9FC-A3EA-66FDD3F34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7382" y="3082850"/>
            <a:ext cx="838200" cy="284162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8C9108C4-8DBA-E0B5-270D-91CF51656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582" y="3062212"/>
            <a:ext cx="698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nombre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D2D06B8C-48D8-0F7C-B8CE-DDE658F2D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744" y="2343075"/>
            <a:ext cx="457200" cy="2286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ACC000E4-8E1C-D2A6-4A91-2A6ADA16D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9569" y="2805037"/>
            <a:ext cx="304800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6B686DA-1CCC-6344-B176-E57D17132B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7169" y="3024112"/>
            <a:ext cx="457200" cy="1778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D0F828-C98C-D89E-4A89-BADA0964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694" y="1982712"/>
            <a:ext cx="876300" cy="288925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AB823F32-9612-2190-15C9-3D64414EA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894" y="1982712"/>
            <a:ext cx="6969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código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080870-76F8-79CF-59E5-D8D1D2B56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994" y="1982712"/>
            <a:ext cx="865188" cy="288925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C17CF9C8-5AAE-13EB-2EE3-3F3B71FC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5394" y="1982712"/>
            <a:ext cx="5127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valor</a:t>
            </a: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A9ACFCB8-5F20-D713-237A-DCFCA309D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0757" y="2270050"/>
            <a:ext cx="384175" cy="360362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74B56184-5785-E417-5AC3-6237056710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74644" y="2270050"/>
            <a:ext cx="387350" cy="373062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2B0AB6-3E36-E696-A1F6-F6E9C30F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901" y="4737421"/>
            <a:ext cx="1446212" cy="433387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DEEFC039-5C59-233A-6155-607AA155D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888" y="4821558"/>
            <a:ext cx="1447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Departamento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CD5F6A-FD91-2DDA-86AA-CBBE1FB1A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013" y="4758058"/>
            <a:ext cx="1143000" cy="43338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A614D133-244D-E8FC-FDBF-0B8E80728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7713" y="4821558"/>
            <a:ext cx="10795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Empleado</a:t>
            </a: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3415E347-4C1E-9669-0061-71B37DAD5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9751" y="4973958"/>
            <a:ext cx="503237" cy="1588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5" name="Line 34">
            <a:extLst>
              <a:ext uri="{FF2B5EF4-FFF2-40B4-BE49-F238E27FC236}">
                <a16:creationId xmlns:a16="http://schemas.microsoft.com/office/drawing/2014/main" id="{C10461B4-4602-90DF-C20A-BF58759B8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8751" y="4973958"/>
            <a:ext cx="538162" cy="7938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grpSp>
        <p:nvGrpSpPr>
          <p:cNvPr id="66" name="Group 35">
            <a:extLst>
              <a:ext uri="{FF2B5EF4-FFF2-40B4-BE49-F238E27FC236}">
                <a16:creationId xmlns:a16="http://schemas.microsoft.com/office/drawing/2014/main" id="{C9F2F47E-595A-C0EC-93B9-B1CCF3D12DF7}"/>
              </a:ext>
            </a:extLst>
          </p:cNvPr>
          <p:cNvGrpSpPr>
            <a:grpSpLocks/>
          </p:cNvGrpSpPr>
          <p:nvPr/>
        </p:nvGrpSpPr>
        <p:grpSpPr bwMode="auto">
          <a:xfrm>
            <a:off x="5013026" y="4815208"/>
            <a:ext cx="1058862" cy="304800"/>
            <a:chOff x="1935" y="2786"/>
            <a:chExt cx="667" cy="192"/>
          </a:xfrm>
        </p:grpSpPr>
        <p:sp>
          <p:nvSpPr>
            <p:cNvPr id="67" name="AutoShape 36">
              <a:extLst>
                <a:ext uri="{FF2B5EF4-FFF2-40B4-BE49-F238E27FC236}">
                  <a16:creationId xmlns:a16="http://schemas.microsoft.com/office/drawing/2014/main" id="{50B3AE51-64C4-4F3A-8110-9351394A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822"/>
              <a:ext cx="667" cy="119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68" name="Text Box 37">
              <a:extLst>
                <a:ext uri="{FF2B5EF4-FFF2-40B4-BE49-F238E27FC236}">
                  <a16:creationId xmlns:a16="http://schemas.microsoft.com/office/drawing/2014/main" id="{C9D144E5-F5AE-6A36-FB09-46273D355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" y="2786"/>
              <a:ext cx="6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 dirty="0" err="1">
                  <a:latin typeface="Times New Roman" panose="02020603050405020304" pitchFamily="18" charset="0"/>
                </a:rPr>
                <a:t>trabajaEn</a:t>
              </a:r>
              <a:endParaRPr lang="en-GB" sz="14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9" name="Oval 40">
            <a:extLst>
              <a:ext uri="{FF2B5EF4-FFF2-40B4-BE49-F238E27FC236}">
                <a16:creationId xmlns:a16="http://schemas.microsoft.com/office/drawing/2014/main" id="{6EF2A7E8-A6E1-50FE-73AD-351F7378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551" y="5540696"/>
            <a:ext cx="1008062" cy="360362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0" name="Text Box 41">
            <a:extLst>
              <a:ext uri="{FF2B5EF4-FFF2-40B4-BE49-F238E27FC236}">
                <a16:creationId xmlns:a16="http://schemas.microsoft.com/office/drawing/2014/main" id="{32CD9597-DCA1-0A73-51FC-AF1653E7C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7713" y="5540696"/>
            <a:ext cx="63023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salario</a:t>
            </a:r>
          </a:p>
        </p:txBody>
      </p:sp>
      <p:sp>
        <p:nvSpPr>
          <p:cNvPr id="71" name="Oval 42">
            <a:extLst>
              <a:ext uri="{FF2B5EF4-FFF2-40B4-BE49-F238E27FC236}">
                <a16:creationId xmlns:a16="http://schemas.microsoft.com/office/drawing/2014/main" id="{DFC6E761-E2DC-DB4C-97FF-F777CF42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426" y="5469258"/>
            <a:ext cx="863600" cy="3048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2" name="Text Box 43">
            <a:extLst>
              <a:ext uri="{FF2B5EF4-FFF2-40B4-BE49-F238E27FC236}">
                <a16:creationId xmlns:a16="http://schemas.microsoft.com/office/drawing/2014/main" id="{F5030EF0-B2FB-732A-10C8-E902BB990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426" y="5469258"/>
            <a:ext cx="8382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ubicación</a:t>
            </a:r>
          </a:p>
        </p:txBody>
      </p:sp>
      <p:sp>
        <p:nvSpPr>
          <p:cNvPr id="73" name="Line 44">
            <a:extLst>
              <a:ext uri="{FF2B5EF4-FFF2-40B4-BE49-F238E27FC236}">
                <a16:creationId xmlns:a16="http://schemas.microsoft.com/office/drawing/2014/main" id="{7CE69FE4-7954-961C-7777-0187ACB4F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426" y="5181921"/>
            <a:ext cx="287337" cy="287337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4" name="Oval 45">
            <a:extLst>
              <a:ext uri="{FF2B5EF4-FFF2-40B4-BE49-F238E27FC236}">
                <a16:creationId xmlns:a16="http://schemas.microsoft.com/office/drawing/2014/main" id="{8E8ABDD4-E3F0-1753-AD60-5C2DB82B7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213" y="4399283"/>
            <a:ext cx="758825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5" name="Text Box 46">
            <a:extLst>
              <a:ext uri="{FF2B5EF4-FFF2-40B4-BE49-F238E27FC236}">
                <a16:creationId xmlns:a16="http://schemas.microsoft.com/office/drawing/2014/main" id="{6B195412-9B79-B04C-3963-224690104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238" y="4470721"/>
            <a:ext cx="6477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ccNro</a:t>
            </a:r>
          </a:p>
        </p:txBody>
      </p:sp>
      <p:sp>
        <p:nvSpPr>
          <p:cNvPr id="76" name="Oval 47">
            <a:extLst>
              <a:ext uri="{FF2B5EF4-FFF2-40B4-BE49-F238E27FC236}">
                <a16:creationId xmlns:a16="http://schemas.microsoft.com/office/drawing/2014/main" id="{A63B769B-7A54-EB4C-5284-A254BBD2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0776" y="4902521"/>
            <a:ext cx="1008062" cy="309562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7" name="Text Box 48">
            <a:extLst>
              <a:ext uri="{FF2B5EF4-FFF2-40B4-BE49-F238E27FC236}">
                <a16:creationId xmlns:a16="http://schemas.microsoft.com/office/drawing/2014/main" id="{1440C0AA-7B5E-E57A-C49D-1CC58E0D5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3801" y="4902521"/>
            <a:ext cx="8636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domicilio</a:t>
            </a:r>
          </a:p>
        </p:txBody>
      </p:sp>
      <p:sp>
        <p:nvSpPr>
          <p:cNvPr id="78" name="Oval 49">
            <a:extLst>
              <a:ext uri="{FF2B5EF4-FFF2-40B4-BE49-F238E27FC236}">
                <a16:creationId xmlns:a16="http://schemas.microsoft.com/office/drawing/2014/main" id="{E0A662B3-8C0A-A676-3A28-EABD54534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188" y="5354958"/>
            <a:ext cx="976313" cy="3810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9" name="Text Box 50">
            <a:extLst>
              <a:ext uri="{FF2B5EF4-FFF2-40B4-BE49-F238E27FC236}">
                <a16:creationId xmlns:a16="http://schemas.microsoft.com/office/drawing/2014/main" id="{778FFC87-6990-3DB0-D164-E84CCF1CF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6313" y="5407346"/>
            <a:ext cx="7381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nombre</a:t>
            </a:r>
          </a:p>
        </p:txBody>
      </p:sp>
      <p:sp>
        <p:nvSpPr>
          <p:cNvPr id="80" name="Line 51">
            <a:extLst>
              <a:ext uri="{FF2B5EF4-FFF2-40B4-BE49-F238E27FC236}">
                <a16:creationId xmlns:a16="http://schemas.microsoft.com/office/drawing/2014/main" id="{1D472EA1-9AC2-BA93-8A7C-380644382C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5951" y="4602483"/>
            <a:ext cx="576262" cy="241300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1" name="Line 52">
            <a:extLst>
              <a:ext uri="{FF2B5EF4-FFF2-40B4-BE49-F238E27FC236}">
                <a16:creationId xmlns:a16="http://schemas.microsoft.com/office/drawing/2014/main" id="{016DCEBE-5156-EB76-6C91-A89120AD0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5951" y="5046983"/>
            <a:ext cx="504825" cy="1588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2" name="Line 53">
            <a:extLst>
              <a:ext uri="{FF2B5EF4-FFF2-40B4-BE49-F238E27FC236}">
                <a16:creationId xmlns:a16="http://schemas.microsoft.com/office/drawing/2014/main" id="{E5E66A92-9A0B-4D16-C8F5-67D7FEA9A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4151" y="5191446"/>
            <a:ext cx="720725" cy="287337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3" name="Oval 54">
            <a:extLst>
              <a:ext uri="{FF2B5EF4-FFF2-40B4-BE49-F238E27FC236}">
                <a16:creationId xmlns:a16="http://schemas.microsoft.com/office/drawing/2014/main" id="{1599BE9D-9EBE-C0AF-C7C9-C6A43C08D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876" y="5459733"/>
            <a:ext cx="914400" cy="296863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84" name="Text Box 55">
            <a:extLst>
              <a:ext uri="{FF2B5EF4-FFF2-40B4-BE49-F238E27FC236}">
                <a16:creationId xmlns:a16="http://schemas.microsoft.com/office/drawing/2014/main" id="{3B6BB628-D6EF-F7FE-E2BD-B5D6161AF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638" y="5469258"/>
            <a:ext cx="630238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código</a:t>
            </a:r>
          </a:p>
        </p:txBody>
      </p:sp>
      <p:sp>
        <p:nvSpPr>
          <p:cNvPr id="85" name="Oval 56">
            <a:extLst>
              <a:ext uri="{FF2B5EF4-FFF2-40B4-BE49-F238E27FC236}">
                <a16:creationId xmlns:a16="http://schemas.microsoft.com/office/drawing/2014/main" id="{9BF15E90-D2C8-FE07-67E2-EF670BA58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13" y="5756596"/>
            <a:ext cx="1066800" cy="3048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86" name="Text Box 57">
            <a:extLst>
              <a:ext uri="{FF2B5EF4-FFF2-40B4-BE49-F238E27FC236}">
                <a16:creationId xmlns:a16="http://schemas.microsoft.com/office/drawing/2014/main" id="{0B6A1BBB-EFF7-371B-212A-73EA78E10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626" y="5756596"/>
            <a:ext cx="952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descripción</a:t>
            </a:r>
          </a:p>
        </p:txBody>
      </p:sp>
      <p:sp>
        <p:nvSpPr>
          <p:cNvPr id="87" name="Line 58">
            <a:extLst>
              <a:ext uri="{FF2B5EF4-FFF2-40B4-BE49-F238E27FC236}">
                <a16:creationId xmlns:a16="http://schemas.microsoft.com/office/drawing/2014/main" id="{DB3E3369-93BD-F9C8-84EF-5FD294C06C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68301" y="5181921"/>
            <a:ext cx="312737" cy="287337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8" name="Line 59">
            <a:extLst>
              <a:ext uri="{FF2B5EF4-FFF2-40B4-BE49-F238E27FC236}">
                <a16:creationId xmlns:a16="http://schemas.microsoft.com/office/drawing/2014/main" id="{AFE6A341-2F4D-1344-FCB2-562B90D9C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601" y="5181921"/>
            <a:ext cx="1587" cy="574675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9" name="Rectangle 60">
            <a:extLst>
              <a:ext uri="{FF2B5EF4-FFF2-40B4-BE49-F238E27FC236}">
                <a16:creationId xmlns:a16="http://schemas.microsoft.com/office/drawing/2014/main" id="{C4E5E1A8-BF6C-B043-A66E-DFB98CB7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857" y="2630412"/>
            <a:ext cx="1390650" cy="4318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90" name="Text Box 61">
            <a:extLst>
              <a:ext uri="{FF2B5EF4-FFF2-40B4-BE49-F238E27FC236}">
                <a16:creationId xmlns:a16="http://schemas.microsoft.com/office/drawing/2014/main" id="{908E1263-2C3F-E950-C0E6-DB5753F7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4319" y="2701850"/>
            <a:ext cx="10795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Producto</a:t>
            </a:r>
          </a:p>
        </p:txBody>
      </p:sp>
      <p:sp>
        <p:nvSpPr>
          <p:cNvPr id="91" name="Line 62">
            <a:extLst>
              <a:ext uri="{FF2B5EF4-FFF2-40B4-BE49-F238E27FC236}">
                <a16:creationId xmlns:a16="http://schemas.microsoft.com/office/drawing/2014/main" id="{23DE639E-E921-F53F-D893-2EBF2496D9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9663" y="5212083"/>
            <a:ext cx="22225" cy="328613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2" name="Oval 63">
            <a:extLst>
              <a:ext uri="{FF2B5EF4-FFF2-40B4-BE49-F238E27FC236}">
                <a16:creationId xmlns:a16="http://schemas.microsoft.com/office/drawing/2014/main" id="{CD50C32F-6098-1B3C-BA30-F4EEEBD04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607" y="1911275"/>
            <a:ext cx="792162" cy="287337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93" name="Text Box 64">
            <a:extLst>
              <a:ext uri="{FF2B5EF4-FFF2-40B4-BE49-F238E27FC236}">
                <a16:creationId xmlns:a16="http://schemas.microsoft.com/office/drawing/2014/main" id="{588CFE83-D4C5-2C1F-739D-2ACA3C106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632" y="1911275"/>
            <a:ext cx="6477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fecha</a:t>
            </a:r>
          </a:p>
        </p:txBody>
      </p:sp>
      <p:sp>
        <p:nvSpPr>
          <p:cNvPr id="94" name="Line 65">
            <a:extLst>
              <a:ext uri="{FF2B5EF4-FFF2-40B4-BE49-F238E27FC236}">
                <a16:creationId xmlns:a16="http://schemas.microsoft.com/office/drawing/2014/main" id="{6E6C0BF2-E0A5-1C4A-85F7-A29A20A0BD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8407" y="2209725"/>
            <a:ext cx="1587" cy="290512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5" name="Line 66">
            <a:extLst>
              <a:ext uri="{FF2B5EF4-FFF2-40B4-BE49-F238E27FC236}">
                <a16:creationId xmlns:a16="http://schemas.microsoft.com/office/drawing/2014/main" id="{9AAEE21B-D4E9-4FFD-9D76-23BF090FD2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37136" y="3206672"/>
            <a:ext cx="12701" cy="1540132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6" name="AutoShape 71">
            <a:extLst>
              <a:ext uri="{FF2B5EF4-FFF2-40B4-BE49-F238E27FC236}">
                <a16:creationId xmlns:a16="http://schemas.microsoft.com/office/drawing/2014/main" id="{ABFFFA56-1DB4-D066-53DB-8FF1F099F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832" y="2487537"/>
            <a:ext cx="1585912" cy="719138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97" name="AutoShape 72">
            <a:extLst>
              <a:ext uri="{FF2B5EF4-FFF2-40B4-BE49-F238E27FC236}">
                <a16:creationId xmlns:a16="http://schemas.microsoft.com/office/drawing/2014/main" id="{0257AC89-B982-6F87-CBB3-3D05CB20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988" y="4613596"/>
            <a:ext cx="1657350" cy="720725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8BA46035-1F9B-A32D-8E3C-4A371E8B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988" y="6134421"/>
            <a:ext cx="1008063" cy="360362"/>
          </a:xfrm>
          <a:prstGeom prst="ellipse">
            <a:avLst/>
          </a:prstGeom>
          <a:noFill/>
          <a:ln w="9360" cap="sq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s-CO"/>
          </a:p>
        </p:txBody>
      </p:sp>
      <p:sp>
        <p:nvSpPr>
          <p:cNvPr id="99" name="Text Box 41">
            <a:extLst>
              <a:ext uri="{FF2B5EF4-FFF2-40B4-BE49-F238E27FC236}">
                <a16:creationId xmlns:a16="http://schemas.microsoft.com/office/drawing/2014/main" id="{C9069E12-A4E6-4B48-FBEF-2FBDC224B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113" y="6202683"/>
            <a:ext cx="785813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NoHoras</a:t>
            </a:r>
            <a:endParaRPr lang="en-GB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0" name="Line 62">
            <a:extLst>
              <a:ext uri="{FF2B5EF4-FFF2-40B4-BE49-F238E27FC236}">
                <a16:creationId xmlns:a16="http://schemas.microsoft.com/office/drawing/2014/main" id="{DE095695-EC6F-2656-460D-B3A18126F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2101" y="5248596"/>
            <a:ext cx="77787" cy="885825"/>
          </a:xfrm>
          <a:prstGeom prst="line">
            <a:avLst/>
          </a:prstGeom>
          <a:noFill/>
          <a:ln w="9525" cap="sq">
            <a:solidFill>
              <a:schemeClr val="bg2">
                <a:lumMod val="75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1AAD3622-C386-61EF-B5D8-1634CE13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551" y="5853433"/>
            <a:ext cx="1008062" cy="360363"/>
          </a:xfrm>
          <a:prstGeom prst="ellipse">
            <a:avLst/>
          </a:prstGeom>
          <a:noFill/>
          <a:ln w="9360" cap="sq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s-CO"/>
          </a:p>
        </p:txBody>
      </p:sp>
      <p:sp>
        <p:nvSpPr>
          <p:cNvPr id="102" name="Text Box 41">
            <a:extLst>
              <a:ext uri="{FF2B5EF4-FFF2-40B4-BE49-F238E27FC236}">
                <a16:creationId xmlns:a16="http://schemas.microsoft.com/office/drawing/2014/main" id="{7B2B4416-0B13-CF0E-9587-404D51C94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713" y="5853433"/>
            <a:ext cx="693738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  <a:defRPr/>
            </a:pPr>
            <a:r>
              <a:rPr lang="es-CO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Inicio</a:t>
            </a:r>
          </a:p>
        </p:txBody>
      </p:sp>
      <p:sp>
        <p:nvSpPr>
          <p:cNvPr id="103" name="Line 62">
            <a:extLst>
              <a:ext uri="{FF2B5EF4-FFF2-40B4-BE49-F238E27FC236}">
                <a16:creationId xmlns:a16="http://schemas.microsoft.com/office/drawing/2014/main" id="{9527342E-2C70-A25A-1CEA-AC1AC8910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2488" y="5212083"/>
            <a:ext cx="198438" cy="638175"/>
          </a:xfrm>
          <a:prstGeom prst="line">
            <a:avLst/>
          </a:prstGeom>
          <a:noFill/>
          <a:ln w="9525" cap="sq">
            <a:solidFill>
              <a:schemeClr val="bg2">
                <a:lumMod val="75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104" name="Llamada de flecha izquierda y derecha 1">
            <a:extLst>
              <a:ext uri="{FF2B5EF4-FFF2-40B4-BE49-F238E27FC236}">
                <a16:creationId xmlns:a16="http://schemas.microsoft.com/office/drawing/2014/main" id="{3B81FF88-FA43-A582-1A01-CC3153F013BA}"/>
              </a:ext>
            </a:extLst>
          </p:cNvPr>
          <p:cNvSpPr/>
          <p:nvPr/>
        </p:nvSpPr>
        <p:spPr bwMode="auto">
          <a:xfrm rot="18659647">
            <a:off x="5362017" y="3217175"/>
            <a:ext cx="2033585" cy="1286718"/>
          </a:xfrm>
          <a:prstGeom prst="leftRightArrowCallout">
            <a:avLst>
              <a:gd name="adj1" fmla="val 16575"/>
              <a:gd name="adj2" fmla="val 19922"/>
              <a:gd name="adj3" fmla="val 16163"/>
              <a:gd name="adj4" fmla="val 67013"/>
            </a:avLst>
          </a:prstGeom>
          <a:gradFill flip="none" rotWithShape="1">
            <a:gsLst>
              <a:gs pos="25000">
                <a:schemeClr val="accent1">
                  <a:lumMod val="5000"/>
                  <a:lumOff val="95000"/>
                  <a:alpha val="80000"/>
                </a:schemeClr>
              </a:gs>
              <a:gs pos="63000">
                <a:schemeClr val="accent1">
                  <a:lumMod val="45000"/>
                  <a:lumOff val="55000"/>
                </a:schemeClr>
              </a:gs>
              <a:gs pos="100000">
                <a:schemeClr val="accent5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CO" sz="1800" b="1" i="0" u="none" strike="noStrike" cap="none" normalizeH="0" baseline="0" dirty="0">
                <a:solidFill>
                  <a:srgbClr val="0000CC">
                    <a:alpha val="80000"/>
                  </a:srgbClr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Los nombres</a:t>
            </a:r>
            <a:r>
              <a:rPr kumimoji="0" lang="es-CO" sz="1800" b="1" i="0" u="none" strike="noStrike" cap="none" normalizeH="0" dirty="0">
                <a:solidFill>
                  <a:srgbClr val="0000CC">
                    <a:alpha val="80000"/>
                  </a:srgbClr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de las relaciones deben ser diferentes!</a:t>
            </a:r>
            <a:endParaRPr kumimoji="0" lang="es-CO" sz="1800" b="1" i="0" u="none" strike="noStrike" cap="none" normalizeH="0" baseline="0" dirty="0">
              <a:solidFill>
                <a:srgbClr val="0000CC">
                  <a:alpha val="80000"/>
                </a:srgbClr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8730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67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5000"/>
              </a:lnSpc>
              <a:spcBef>
                <a:spcPts val="700"/>
              </a:spcBef>
              <a:spcAft>
                <a:spcPts val="200"/>
              </a:spcAft>
              <a:buSzPct val="100000"/>
            </a:pPr>
            <a:r>
              <a:rPr lang="es-CO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(Requisitos)‏</a:t>
            </a:r>
          </a:p>
          <a:p>
            <a:pPr algn="just" eaLnBrk="1" hangingPunct="1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</a:pPr>
            <a:r>
              <a:rPr lang="es-CO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Departamentos</a:t>
            </a:r>
            <a:r>
              <a:rPr lang="es-CO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código único por departamento y el nombre</a:t>
            </a:r>
          </a:p>
          <a:p>
            <a:pPr algn="just" eaLnBrk="1" hangingPunct="1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</a:pPr>
            <a:r>
              <a:rPr lang="es-CO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lang="es-CO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código único por proyecto y nombre. Cada proyecto se gestiona por un solo departamento y un departamento puede gestionar varios</a:t>
            </a:r>
          </a:p>
          <a:p>
            <a:pPr algn="just" eaLnBrk="1" hangingPunct="1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</a:pPr>
            <a:r>
              <a:rPr lang="es-CO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Empleados</a:t>
            </a:r>
            <a:r>
              <a:rPr lang="es-CO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código único de empleado, nombre y apellidos, dirección, teléfono, fecha de nacimiento, sexo, si está casado o no y sueldo que percibe.</a:t>
            </a:r>
          </a:p>
          <a:p>
            <a:pPr algn="just" eaLnBrk="1" hangingPunct="1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</a:pPr>
            <a:r>
              <a:rPr lang="es-CO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empleado pertenece a un solo departamento y en un departamento puede haber varios empleados. Por otro lado, cada departamento tiene un empleado como jefe.</a:t>
            </a:r>
          </a:p>
          <a:p>
            <a:pPr algn="just" eaLnBrk="1" hangingPunct="1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"/>
            </a:pPr>
            <a:r>
              <a:rPr lang="es-CO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empleados pueden participar en varios proyectos y en un proyecto pueden participar varios empleados, pero interesa saber el tiempo (en horas) que dedica cada empleado a los proyectos en los que participa.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2074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Diagrama Entidad Relación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64CD30E-C6E3-8C35-48C2-3E708151CEFD}"/>
              </a:ext>
            </a:extLst>
          </p:cNvPr>
          <p:cNvSpPr/>
          <p:nvPr/>
        </p:nvSpPr>
        <p:spPr bwMode="auto">
          <a:xfrm>
            <a:off x="2747315" y="2704439"/>
            <a:ext cx="2304256" cy="792088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s-E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Departamento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13BCF18-D3F7-E6D7-E07D-0B7D73791E71}"/>
              </a:ext>
            </a:extLst>
          </p:cNvPr>
          <p:cNvSpPr/>
          <p:nvPr/>
        </p:nvSpPr>
        <p:spPr bwMode="auto">
          <a:xfrm>
            <a:off x="7931891" y="2704439"/>
            <a:ext cx="2304256" cy="792088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s-E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Empleado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5962B5-3116-6E4B-E8B6-C6767AA76D65}"/>
              </a:ext>
            </a:extLst>
          </p:cNvPr>
          <p:cNvSpPr/>
          <p:nvPr/>
        </p:nvSpPr>
        <p:spPr bwMode="auto">
          <a:xfrm>
            <a:off x="5195587" y="5156123"/>
            <a:ext cx="2304256" cy="792088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s-E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Proyecto</a:t>
            </a: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1829381E-7E9C-C939-762D-30CF49F0A857}"/>
              </a:ext>
            </a:extLst>
          </p:cNvPr>
          <p:cNvSpPr/>
          <p:nvPr/>
        </p:nvSpPr>
        <p:spPr bwMode="auto">
          <a:xfrm>
            <a:off x="5195587" y="1766594"/>
            <a:ext cx="2520280" cy="721821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pertenece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4F9ACF9-A19A-1BF8-D501-CE0CB5A16712}"/>
              </a:ext>
            </a:extLst>
          </p:cNvPr>
          <p:cNvCxnSpPr>
            <a:stCxn id="8" idx="3"/>
          </p:cNvCxnSpPr>
          <p:nvPr/>
        </p:nvCxnSpPr>
        <p:spPr bwMode="auto">
          <a:xfrm>
            <a:off x="7715867" y="2127505"/>
            <a:ext cx="1368152" cy="0"/>
          </a:xfrm>
          <a:prstGeom prst="line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543BC31-870E-8EFB-11BF-0901845981BF}"/>
              </a:ext>
            </a:extLst>
          </p:cNvPr>
          <p:cNvCxnSpPr>
            <a:endCxn id="5" idx="0"/>
          </p:cNvCxnSpPr>
          <p:nvPr/>
        </p:nvCxnSpPr>
        <p:spPr bwMode="auto">
          <a:xfrm>
            <a:off x="9084019" y="2127505"/>
            <a:ext cx="0" cy="576934"/>
          </a:xfrm>
          <a:prstGeom prst="line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C67E872-4AAB-27A5-0608-776A6063B4F8}"/>
              </a:ext>
            </a:extLst>
          </p:cNvPr>
          <p:cNvCxnSpPr/>
          <p:nvPr/>
        </p:nvCxnSpPr>
        <p:spPr bwMode="auto">
          <a:xfrm>
            <a:off x="3827435" y="2127505"/>
            <a:ext cx="1368152" cy="0"/>
          </a:xfrm>
          <a:prstGeom prst="line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D63B112-9364-2992-3CE7-D2DE97DB5B9F}"/>
              </a:ext>
            </a:extLst>
          </p:cNvPr>
          <p:cNvCxnSpPr/>
          <p:nvPr/>
        </p:nvCxnSpPr>
        <p:spPr bwMode="auto">
          <a:xfrm>
            <a:off x="3827435" y="2127505"/>
            <a:ext cx="0" cy="576934"/>
          </a:xfrm>
          <a:prstGeom prst="straightConnector1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Rombo 12">
            <a:extLst>
              <a:ext uri="{FF2B5EF4-FFF2-40B4-BE49-F238E27FC236}">
                <a16:creationId xmlns:a16="http://schemas.microsoft.com/office/drawing/2014/main" id="{DC54ED64-DB46-1D7D-F72E-3C226195069B}"/>
              </a:ext>
            </a:extLst>
          </p:cNvPr>
          <p:cNvSpPr/>
          <p:nvPr/>
        </p:nvSpPr>
        <p:spPr bwMode="auto">
          <a:xfrm>
            <a:off x="5195587" y="3675676"/>
            <a:ext cx="2520280" cy="721821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esJefe</a:t>
            </a:r>
            <a:endParaRPr kumimoji="0" lang="es-E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9F496CE-0143-D4BB-664B-D7EB01CBBC66}"/>
              </a:ext>
            </a:extLst>
          </p:cNvPr>
          <p:cNvCxnSpPr/>
          <p:nvPr/>
        </p:nvCxnSpPr>
        <p:spPr bwMode="auto">
          <a:xfrm>
            <a:off x="3899443" y="4036586"/>
            <a:ext cx="1296144" cy="0"/>
          </a:xfrm>
          <a:prstGeom prst="line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7BC473F-2131-8EBC-3730-EEE16BE3EC84}"/>
              </a:ext>
            </a:extLst>
          </p:cNvPr>
          <p:cNvCxnSpPr>
            <a:endCxn id="3" idx="2"/>
          </p:cNvCxnSpPr>
          <p:nvPr/>
        </p:nvCxnSpPr>
        <p:spPr bwMode="auto">
          <a:xfrm flipV="1">
            <a:off x="3899443" y="3496527"/>
            <a:ext cx="0" cy="540059"/>
          </a:xfrm>
          <a:prstGeom prst="straightConnector1">
            <a:avLst/>
          </a:prstGeom>
          <a:solidFill>
            <a:srgbClr val="00B8FF"/>
          </a:solidFill>
          <a:ln w="50800" cap="flat" cmpd="dbl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F0CD806-B0CF-AEFD-0AF9-BE9FC29774D9}"/>
              </a:ext>
            </a:extLst>
          </p:cNvPr>
          <p:cNvCxnSpPr>
            <a:stCxn id="13" idx="3"/>
          </p:cNvCxnSpPr>
          <p:nvPr/>
        </p:nvCxnSpPr>
        <p:spPr bwMode="auto">
          <a:xfrm flipV="1">
            <a:off x="7715867" y="4036586"/>
            <a:ext cx="1368152" cy="1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D4A778D-F0A6-84B1-9AD3-2FCD5A85F4A1}"/>
              </a:ext>
            </a:extLst>
          </p:cNvPr>
          <p:cNvCxnSpPr>
            <a:endCxn id="5" idx="2"/>
          </p:cNvCxnSpPr>
          <p:nvPr/>
        </p:nvCxnSpPr>
        <p:spPr bwMode="auto">
          <a:xfrm flipV="1">
            <a:off x="9084019" y="3496527"/>
            <a:ext cx="0" cy="540059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ombo 17">
            <a:extLst>
              <a:ext uri="{FF2B5EF4-FFF2-40B4-BE49-F238E27FC236}">
                <a16:creationId xmlns:a16="http://schemas.microsoft.com/office/drawing/2014/main" id="{A2AA4D10-D4CE-BD71-A228-CD9CC36BE258}"/>
              </a:ext>
            </a:extLst>
          </p:cNvPr>
          <p:cNvSpPr/>
          <p:nvPr/>
        </p:nvSpPr>
        <p:spPr bwMode="auto">
          <a:xfrm>
            <a:off x="2021854" y="5156119"/>
            <a:ext cx="2165621" cy="721821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s-ES" sz="2000" b="1" dirty="0">
                <a:solidFill>
                  <a:srgbClr val="002060"/>
                </a:solidFill>
              </a:rPr>
              <a:t>gestiona</a:t>
            </a:r>
            <a:endParaRPr kumimoji="0" lang="es-E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F64F7D6-EDE8-29A3-DD85-FFAED54F4418}"/>
              </a:ext>
            </a:extLst>
          </p:cNvPr>
          <p:cNvCxnSpPr/>
          <p:nvPr/>
        </p:nvCxnSpPr>
        <p:spPr bwMode="auto">
          <a:xfrm flipV="1">
            <a:off x="3107355" y="3496527"/>
            <a:ext cx="0" cy="1656184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17A7339-629D-31E9-0B2D-A5951E7361A8}"/>
              </a:ext>
            </a:extLst>
          </p:cNvPr>
          <p:cNvCxnSpPr>
            <a:stCxn id="18" idx="3"/>
            <a:endCxn id="7" idx="1"/>
          </p:cNvCxnSpPr>
          <p:nvPr/>
        </p:nvCxnSpPr>
        <p:spPr bwMode="auto">
          <a:xfrm>
            <a:off x="4187475" y="5517030"/>
            <a:ext cx="1008112" cy="35137"/>
          </a:xfrm>
          <a:prstGeom prst="line">
            <a:avLst/>
          </a:prstGeom>
          <a:solidFill>
            <a:srgbClr val="00B8FF"/>
          </a:solidFill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DDFA1BC5-29BE-56A3-CE62-65AA2047AF85}"/>
              </a:ext>
            </a:extLst>
          </p:cNvPr>
          <p:cNvSpPr/>
          <p:nvPr/>
        </p:nvSpPr>
        <p:spPr bwMode="auto">
          <a:xfrm>
            <a:off x="8435947" y="5173687"/>
            <a:ext cx="2401416" cy="721821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s-ES" sz="2000" b="1" dirty="0">
                <a:solidFill>
                  <a:srgbClr val="002060"/>
                </a:solidFill>
              </a:rPr>
              <a:t>participa</a:t>
            </a:r>
            <a:endParaRPr kumimoji="0" lang="es-E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7CF0DDD-C2BF-F25B-FC81-B8E968DCE345}"/>
              </a:ext>
            </a:extLst>
          </p:cNvPr>
          <p:cNvCxnSpPr/>
          <p:nvPr/>
        </p:nvCxnSpPr>
        <p:spPr bwMode="auto">
          <a:xfrm flipV="1">
            <a:off x="9636655" y="3496527"/>
            <a:ext cx="23428" cy="165618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0E76D67-4239-02F8-F936-65AE3C69CBB1}"/>
              </a:ext>
            </a:extLst>
          </p:cNvPr>
          <p:cNvCxnSpPr>
            <a:stCxn id="7" idx="3"/>
            <a:endCxn id="21" idx="1"/>
          </p:cNvCxnSpPr>
          <p:nvPr/>
        </p:nvCxnSpPr>
        <p:spPr bwMode="auto">
          <a:xfrm flipV="1">
            <a:off x="7499843" y="5534598"/>
            <a:ext cx="936104" cy="17569"/>
          </a:xfrm>
          <a:prstGeom prst="line">
            <a:avLst/>
          </a:prstGeom>
          <a:solidFill>
            <a:srgbClr val="00B8FF"/>
          </a:solidFill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25A14CA6-4C07-1123-B97C-D07DB6F9D692}"/>
              </a:ext>
            </a:extLst>
          </p:cNvPr>
          <p:cNvSpPr/>
          <p:nvPr/>
        </p:nvSpPr>
        <p:spPr bwMode="auto">
          <a:xfrm>
            <a:off x="10236147" y="5948211"/>
            <a:ext cx="1584176" cy="432048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6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s-ES" sz="20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horas</a:t>
            </a:r>
            <a:endParaRPr kumimoji="0" lang="es-ES" sz="2400" b="0" i="0" u="none" strike="noStrike" cap="none" normalizeH="0" baseline="0" dirty="0">
              <a:ln>
                <a:noFill/>
              </a:ln>
              <a:solidFill>
                <a:srgbClr val="0000CC"/>
              </a:solidFill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33F3073-D759-F03E-2C66-07CF8DAB68F8}"/>
              </a:ext>
            </a:extLst>
          </p:cNvPr>
          <p:cNvCxnSpPr>
            <a:stCxn id="21" idx="2"/>
            <a:endCxn id="24" idx="0"/>
          </p:cNvCxnSpPr>
          <p:nvPr/>
        </p:nvCxnSpPr>
        <p:spPr bwMode="auto">
          <a:xfrm>
            <a:off x="9636655" y="5895508"/>
            <a:ext cx="1391580" cy="52703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0218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Esquema Relacional</a:t>
            </a:r>
          </a:p>
          <a:p>
            <a:pPr marL="2063750" indent="-2063750"/>
            <a:r>
              <a:rPr lang="es-ES" sz="2400" b="1" dirty="0">
                <a:solidFill>
                  <a:srgbClr val="0000CC"/>
                </a:solidFill>
                <a:latin typeface="Comic Sans MS" panose="030F0702030302020204" pitchFamily="66" charset="0"/>
              </a:rPr>
              <a:t>Departamento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(</a:t>
            </a:r>
            <a:r>
              <a:rPr lang="es-ES" sz="2400" u="sng" dirty="0" err="1">
                <a:solidFill>
                  <a:srgbClr val="0000CC"/>
                </a:solidFill>
                <a:latin typeface="Comic Sans MS" panose="030F0702030302020204" pitchFamily="66" charset="0"/>
              </a:rPr>
              <a:t>codDepto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, </a:t>
            </a:r>
            <a:r>
              <a:rPr lang="es-ES" sz="2400" dirty="0" err="1">
                <a:solidFill>
                  <a:srgbClr val="0000CC"/>
                </a:solidFill>
                <a:latin typeface="Comic Sans MS" panose="030F0702030302020204" pitchFamily="66" charset="0"/>
              </a:rPr>
              <a:t>nombDpto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, </a:t>
            </a:r>
            <a:r>
              <a:rPr lang="es-ES" sz="2400" dirty="0" err="1">
                <a:solidFill>
                  <a:srgbClr val="0000CC"/>
                </a:solidFill>
                <a:latin typeface="Comic Sans MS" panose="030F0702030302020204" pitchFamily="66" charset="0"/>
              </a:rPr>
              <a:t>codJefe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)</a:t>
            </a:r>
          </a:p>
          <a:p>
            <a:pPr marL="2063750" indent="-2063750"/>
            <a:r>
              <a:rPr lang="es-CO" sz="2400" i="1" dirty="0">
                <a:solidFill>
                  <a:schemeClr val="tx1"/>
                </a:solidFill>
              </a:rPr>
              <a:t>LLAVE FORANEA: </a:t>
            </a:r>
            <a:r>
              <a:rPr lang="es-CO" sz="2400" i="1" dirty="0" err="1">
                <a:solidFill>
                  <a:schemeClr val="tx1"/>
                </a:solidFill>
              </a:rPr>
              <a:t>codJefe</a:t>
            </a:r>
            <a:r>
              <a:rPr lang="es-CO" sz="2400" i="1" dirty="0">
                <a:solidFill>
                  <a:schemeClr val="tx1"/>
                </a:solidFill>
              </a:rPr>
              <a:t> REFERENCIA </a:t>
            </a:r>
            <a:r>
              <a:rPr lang="es-CO" sz="2400" i="1" dirty="0" err="1">
                <a:solidFill>
                  <a:schemeClr val="tx1"/>
                </a:solidFill>
              </a:rPr>
              <a:t>codEmp</a:t>
            </a:r>
            <a:r>
              <a:rPr lang="es-CO" sz="2400" i="1" dirty="0">
                <a:solidFill>
                  <a:schemeClr val="tx1"/>
                </a:solidFill>
              </a:rPr>
              <a:t> EN Empleado</a:t>
            </a:r>
            <a:r>
              <a:rPr lang="es-CO" sz="2400" dirty="0">
                <a:solidFill>
                  <a:schemeClr val="tx1"/>
                </a:solidFill>
              </a:rPr>
              <a:t> </a:t>
            </a:r>
          </a:p>
          <a:p>
            <a:pPr marL="2063750" indent="-2063750"/>
            <a:endParaRPr lang="es-ES" sz="2400" dirty="0">
              <a:solidFill>
                <a:srgbClr val="0000CC"/>
              </a:solidFill>
              <a:latin typeface="Comic Sans MS" panose="030F0702030302020204" pitchFamily="66" charset="0"/>
            </a:endParaRPr>
          </a:p>
          <a:p>
            <a:pPr marL="1441450" indent="-1441450"/>
            <a:r>
              <a:rPr lang="es-ES" sz="2400" b="1" dirty="0">
                <a:solidFill>
                  <a:srgbClr val="0000CC"/>
                </a:solidFill>
                <a:latin typeface="Comic Sans MS" panose="030F0702030302020204" pitchFamily="66" charset="0"/>
              </a:rPr>
              <a:t>Empleado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(</a:t>
            </a:r>
            <a:r>
              <a:rPr lang="es-CO" sz="2400" u="sng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codEmp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nombre,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apellidoE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direcciónE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teléfonoE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fecNacmto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sexoE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estaCasado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sueldoE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codDepto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)</a:t>
            </a:r>
          </a:p>
          <a:p>
            <a:pPr marL="2063750" indent="-2063750"/>
            <a:r>
              <a:rPr lang="es-CO" sz="2400" i="1" dirty="0">
                <a:solidFill>
                  <a:schemeClr val="tx1"/>
                </a:solidFill>
              </a:rPr>
              <a:t>LLAVE FORANEA: </a:t>
            </a:r>
            <a:r>
              <a:rPr lang="es-CO" sz="2400" i="1" dirty="0" err="1">
                <a:solidFill>
                  <a:schemeClr val="tx1"/>
                </a:solidFill>
              </a:rPr>
              <a:t>codDepto</a:t>
            </a:r>
            <a:r>
              <a:rPr lang="es-CO" sz="2400" i="1" dirty="0">
                <a:solidFill>
                  <a:schemeClr val="tx1"/>
                </a:solidFill>
              </a:rPr>
              <a:t> REFERENCIA </a:t>
            </a:r>
            <a:r>
              <a:rPr lang="es-CO" sz="2400" i="1" dirty="0" err="1">
                <a:solidFill>
                  <a:schemeClr val="tx1"/>
                </a:solidFill>
              </a:rPr>
              <a:t>codDepto</a:t>
            </a:r>
            <a:r>
              <a:rPr lang="es-CO" sz="2400" i="1" dirty="0">
                <a:solidFill>
                  <a:schemeClr val="tx1"/>
                </a:solidFill>
              </a:rPr>
              <a:t> EN Departamento</a:t>
            </a:r>
            <a:r>
              <a:rPr lang="es-CO" sz="2400" dirty="0">
                <a:solidFill>
                  <a:schemeClr val="tx1"/>
                </a:solidFill>
              </a:rPr>
              <a:t> </a:t>
            </a:r>
          </a:p>
          <a:p>
            <a:pPr marL="2063750" indent="-2063750"/>
            <a:endParaRPr lang="es-ES" sz="2400" dirty="0">
              <a:solidFill>
                <a:srgbClr val="0000CC"/>
              </a:solidFill>
              <a:latin typeface="Comic Sans MS" panose="030F0702030302020204" pitchFamily="66" charset="0"/>
            </a:endParaRPr>
          </a:p>
          <a:p>
            <a:pPr marL="2063750" indent="-2063750"/>
            <a:r>
              <a:rPr lang="es-ES" sz="2400" b="1" dirty="0">
                <a:solidFill>
                  <a:srgbClr val="0000CC"/>
                </a:solidFill>
                <a:latin typeface="Comic Sans MS" panose="030F0702030302020204" pitchFamily="66" charset="0"/>
              </a:rPr>
              <a:t>Proyecto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(</a:t>
            </a:r>
            <a:r>
              <a:rPr lang="es-CO" sz="2400" u="sng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codProy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nombPry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codDep</a:t>
            </a:r>
            <a:r>
              <a:rPr lang="es-ES" sz="2400" dirty="0">
                <a:solidFill>
                  <a:srgbClr val="0000CC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s-CO" sz="2400" i="1" dirty="0">
                <a:solidFill>
                  <a:schemeClr val="tx1"/>
                </a:solidFill>
              </a:rPr>
              <a:t>LLAVE FORANEA: </a:t>
            </a:r>
            <a:r>
              <a:rPr lang="es-CO" sz="2400" i="1" dirty="0" err="1">
                <a:solidFill>
                  <a:schemeClr val="tx1"/>
                </a:solidFill>
              </a:rPr>
              <a:t>codDep</a:t>
            </a:r>
            <a:r>
              <a:rPr lang="es-CO" sz="2400" i="1" dirty="0">
                <a:solidFill>
                  <a:schemeClr val="tx1"/>
                </a:solidFill>
              </a:rPr>
              <a:t> REFERENCIA </a:t>
            </a:r>
            <a:r>
              <a:rPr lang="es-CO" sz="2400" i="1" dirty="0" err="1">
                <a:solidFill>
                  <a:schemeClr val="tx1"/>
                </a:solidFill>
              </a:rPr>
              <a:t>codDepto</a:t>
            </a:r>
            <a:r>
              <a:rPr lang="es-CO" sz="2400" i="1" dirty="0">
                <a:solidFill>
                  <a:schemeClr val="tx1"/>
                </a:solidFill>
              </a:rPr>
              <a:t> EN Departamento</a:t>
            </a:r>
          </a:p>
          <a:p>
            <a:endParaRPr lang="es-CO" sz="2400" i="1" dirty="0">
              <a:solidFill>
                <a:srgbClr val="0000FF"/>
              </a:solidFill>
            </a:endParaRPr>
          </a:p>
          <a:p>
            <a:r>
              <a:rPr lang="es-CO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Participa</a:t>
            </a:r>
            <a:r>
              <a:rPr lang="es-CO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 (</a:t>
            </a:r>
            <a:r>
              <a:rPr lang="es-CO" sz="2400" u="sng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codEmp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</a:t>
            </a:r>
            <a:r>
              <a:rPr lang="es-CO" sz="2400" u="sng" dirty="0" err="1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codProy</a:t>
            </a:r>
            <a:r>
              <a:rPr lang="es-CO" sz="2400" dirty="0">
                <a:solidFill>
                  <a:srgbClr val="0000CC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, horas)</a:t>
            </a:r>
          </a:p>
          <a:p>
            <a:r>
              <a:rPr lang="es-CO" sz="2400" i="1" dirty="0">
                <a:solidFill>
                  <a:schemeClr val="tx1"/>
                </a:solidFill>
              </a:rPr>
              <a:t>LLAVE FORANEA: </a:t>
            </a:r>
            <a:r>
              <a:rPr lang="es-CO" sz="2400" i="1" dirty="0" err="1">
                <a:solidFill>
                  <a:schemeClr val="tx1"/>
                </a:solidFill>
              </a:rPr>
              <a:t>codEmp</a:t>
            </a:r>
            <a:r>
              <a:rPr lang="es-CO" sz="2400" i="1" dirty="0">
                <a:solidFill>
                  <a:schemeClr val="tx1"/>
                </a:solidFill>
              </a:rPr>
              <a:t> REFERENCIA </a:t>
            </a:r>
            <a:r>
              <a:rPr lang="es-CO" sz="2400" i="1" dirty="0" err="1">
                <a:solidFill>
                  <a:schemeClr val="tx1"/>
                </a:solidFill>
              </a:rPr>
              <a:t>codEmp</a:t>
            </a:r>
            <a:r>
              <a:rPr lang="es-CO" sz="2400" i="1" dirty="0">
                <a:solidFill>
                  <a:schemeClr val="tx1"/>
                </a:solidFill>
              </a:rPr>
              <a:t> EN Empleado</a:t>
            </a:r>
            <a:r>
              <a:rPr lang="es-CO" sz="2400" dirty="0">
                <a:solidFill>
                  <a:schemeClr val="tx1"/>
                </a:solidFill>
              </a:rPr>
              <a:t> </a:t>
            </a:r>
          </a:p>
          <a:p>
            <a:r>
              <a:rPr lang="es-CO" sz="2400" i="1" dirty="0">
                <a:solidFill>
                  <a:schemeClr val="tx1"/>
                </a:solidFill>
              </a:rPr>
              <a:t>LLAVE FORANEA: </a:t>
            </a:r>
            <a:r>
              <a:rPr lang="es-CO" sz="2400" i="1" dirty="0" err="1">
                <a:solidFill>
                  <a:schemeClr val="tx1"/>
                </a:solidFill>
              </a:rPr>
              <a:t>codProy</a:t>
            </a:r>
            <a:r>
              <a:rPr lang="es-CO" sz="2400" i="1" dirty="0">
                <a:solidFill>
                  <a:schemeClr val="tx1"/>
                </a:solidFill>
              </a:rPr>
              <a:t> REFERENCIA </a:t>
            </a:r>
            <a:r>
              <a:rPr lang="es-CO" sz="2400" i="1" dirty="0" err="1">
                <a:solidFill>
                  <a:schemeClr val="tx1"/>
                </a:solidFill>
              </a:rPr>
              <a:t>codProy</a:t>
            </a:r>
            <a:r>
              <a:rPr lang="es-CO" sz="2400" i="1" dirty="0">
                <a:solidFill>
                  <a:schemeClr val="tx1"/>
                </a:solidFill>
              </a:rPr>
              <a:t> EN Proyecto</a:t>
            </a:r>
            <a:r>
              <a:rPr lang="es-CO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314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es-CO" sz="3200"/>
              <a:t>Ejemplo (</a:t>
            </a:r>
            <a:r>
              <a:rPr lang="es-CO" sz="3200">
                <a:solidFill>
                  <a:srgbClr val="FF0000"/>
                </a:solidFill>
              </a:rPr>
              <a:t>Diagrama Entidad – Relación</a:t>
            </a:r>
            <a:r>
              <a:rPr lang="es-CO" sz="3200"/>
              <a:t>):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5AA81B2E-B8E3-4F54-D810-498A795FB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184" y="2057250"/>
            <a:ext cx="1447800" cy="1963738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C63A21F6-A434-3C8A-6292-44CBC43A2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171" y="2057250"/>
            <a:ext cx="1447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Empleado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DC9CA36F-79E2-B65D-3152-6C6226FD1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171" y="2362050"/>
            <a:ext cx="1400175" cy="0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2B0015CF-D090-5893-68CE-0D7CC23AF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9371" y="2438250"/>
            <a:ext cx="12192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codEmp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nombre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apellidos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dirección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telefono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fechaNac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sexo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casado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salario</a:t>
            </a:r>
          </a:p>
        </p:txBody>
      </p:sp>
      <p:sp>
        <p:nvSpPr>
          <p:cNvPr id="30" name="AutoShape 7">
            <a:extLst>
              <a:ext uri="{FF2B5EF4-FFF2-40B4-BE49-F238E27FC236}">
                <a16:creationId xmlns:a16="http://schemas.microsoft.com/office/drawing/2014/main" id="{1A08BE54-707F-6C98-1F2C-5A98DA20D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771" y="2214413"/>
            <a:ext cx="1371600" cy="60960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31" name="Group 8">
            <a:extLst>
              <a:ext uri="{FF2B5EF4-FFF2-40B4-BE49-F238E27FC236}">
                <a16:creationId xmlns:a16="http://schemas.microsoft.com/office/drawing/2014/main" id="{CE9B0043-677F-D83F-6A74-7890596232DE}"/>
              </a:ext>
            </a:extLst>
          </p:cNvPr>
          <p:cNvGrpSpPr>
            <a:grpSpLocks/>
          </p:cNvGrpSpPr>
          <p:nvPr/>
        </p:nvGrpSpPr>
        <p:grpSpPr bwMode="auto">
          <a:xfrm>
            <a:off x="6181071" y="2338238"/>
            <a:ext cx="1144588" cy="304800"/>
            <a:chOff x="2328" y="1281"/>
            <a:chExt cx="721" cy="192"/>
          </a:xfrm>
        </p:grpSpPr>
        <p:sp>
          <p:nvSpPr>
            <p:cNvPr id="32" name="AutoShape 9">
              <a:extLst>
                <a:ext uri="{FF2B5EF4-FFF2-40B4-BE49-F238E27FC236}">
                  <a16:creationId xmlns:a16="http://schemas.microsoft.com/office/drawing/2014/main" id="{A58E7D76-1A07-F45E-55D3-2A94F677B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317"/>
              <a:ext cx="721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6EFB1D06-E8E5-DF58-19BC-66378695B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281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pertenece</a:t>
              </a:r>
            </a:p>
          </p:txBody>
        </p:sp>
      </p:grpSp>
      <p:sp>
        <p:nvSpPr>
          <p:cNvPr id="34" name="AutoShape 11">
            <a:extLst>
              <a:ext uri="{FF2B5EF4-FFF2-40B4-BE49-F238E27FC236}">
                <a16:creationId xmlns:a16="http://schemas.microsoft.com/office/drawing/2014/main" id="{982DA66C-0E55-3DAC-B17C-13CB50291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746" y="3012925"/>
            <a:ext cx="1300163" cy="706438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35" name="Group 12">
            <a:extLst>
              <a:ext uri="{FF2B5EF4-FFF2-40B4-BE49-F238E27FC236}">
                <a16:creationId xmlns:a16="http://schemas.microsoft.com/office/drawing/2014/main" id="{A401F6ED-6C1D-D9AB-EB6F-FDDAA98D5B53}"/>
              </a:ext>
            </a:extLst>
          </p:cNvPr>
          <p:cNvGrpSpPr>
            <a:grpSpLocks/>
          </p:cNvGrpSpPr>
          <p:nvPr/>
        </p:nvGrpSpPr>
        <p:grpSpPr bwMode="auto">
          <a:xfrm>
            <a:off x="6181071" y="3176438"/>
            <a:ext cx="1144588" cy="304800"/>
            <a:chOff x="2328" y="1809"/>
            <a:chExt cx="721" cy="192"/>
          </a:xfrm>
        </p:grpSpPr>
        <p:sp>
          <p:nvSpPr>
            <p:cNvPr id="36" name="AutoShape 13">
              <a:extLst>
                <a:ext uri="{FF2B5EF4-FFF2-40B4-BE49-F238E27FC236}">
                  <a16:creationId xmlns:a16="http://schemas.microsoft.com/office/drawing/2014/main" id="{CFA2A9C3-1F0A-B44C-5FE8-0585CC1B2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843"/>
              <a:ext cx="721" cy="124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37" name="Text Box 14">
              <a:extLst>
                <a:ext uri="{FF2B5EF4-FFF2-40B4-BE49-F238E27FC236}">
                  <a16:creationId xmlns:a16="http://schemas.microsoft.com/office/drawing/2014/main" id="{EF0CB329-39BD-95D5-5B12-5305E13C9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809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esJefeDe</a:t>
              </a:r>
            </a:p>
          </p:txBody>
        </p:sp>
      </p:grpSp>
      <p:sp>
        <p:nvSpPr>
          <p:cNvPr id="38" name="Rectangle 15">
            <a:extLst>
              <a:ext uri="{FF2B5EF4-FFF2-40B4-BE49-F238E27FC236}">
                <a16:creationId xmlns:a16="http://schemas.microsoft.com/office/drawing/2014/main" id="{C6A47FDA-339A-D77E-DC34-05132E7CD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0371" y="1981050"/>
            <a:ext cx="1447800" cy="15240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39" name="Text Box 16">
            <a:extLst>
              <a:ext uri="{FF2B5EF4-FFF2-40B4-BE49-F238E27FC236}">
                <a16:creationId xmlns:a16="http://schemas.microsoft.com/office/drawing/2014/main" id="{10DA6EA1-C81C-B1F3-9A0B-F4C8348A8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0371" y="1981050"/>
            <a:ext cx="14478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Departamento</a:t>
            </a:r>
          </a:p>
        </p:txBody>
      </p:sp>
      <p:sp>
        <p:nvSpPr>
          <p:cNvPr id="40" name="Line 17">
            <a:extLst>
              <a:ext uri="{FF2B5EF4-FFF2-40B4-BE49-F238E27FC236}">
                <a16:creationId xmlns:a16="http://schemas.microsoft.com/office/drawing/2014/main" id="{A33E3C73-A60C-BDC4-CD73-1BA12C984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0371" y="2285850"/>
            <a:ext cx="1447800" cy="3175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" name="Text Box 18">
            <a:extLst>
              <a:ext uri="{FF2B5EF4-FFF2-40B4-BE49-F238E27FC236}">
                <a16:creationId xmlns:a16="http://schemas.microsoft.com/office/drawing/2014/main" id="{C17CA10B-04A7-C04B-73D2-202E86EB7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571" y="2362050"/>
            <a:ext cx="12192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codDepto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nombreDpto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ubicacion</a:t>
            </a:r>
          </a:p>
        </p:txBody>
      </p:sp>
      <p:sp>
        <p:nvSpPr>
          <p:cNvPr id="42" name="Line 23">
            <a:extLst>
              <a:ext uri="{FF2B5EF4-FFF2-40B4-BE49-F238E27FC236}">
                <a16:creationId xmlns:a16="http://schemas.microsoft.com/office/drawing/2014/main" id="{71BAC5E9-D586-70D1-5810-1F62FD4B9A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0971" y="2516038"/>
            <a:ext cx="685800" cy="0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794EA177-753B-AA2D-03F8-C3CF0488E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971" y="3373288"/>
            <a:ext cx="739775" cy="1587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4" name="Line 26">
            <a:extLst>
              <a:ext uri="{FF2B5EF4-FFF2-40B4-BE49-F238E27FC236}">
                <a16:creationId xmlns:a16="http://schemas.microsoft.com/office/drawing/2014/main" id="{5FC9FB5B-8A88-CB3A-8FF0-8421BFB95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7734" y="3373288"/>
            <a:ext cx="792162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5" name="Line 27">
            <a:extLst>
              <a:ext uri="{FF2B5EF4-FFF2-40B4-BE49-F238E27FC236}">
                <a16:creationId xmlns:a16="http://schemas.microsoft.com/office/drawing/2014/main" id="{B6564F8D-C2E3-6B9D-C9C4-24E625A8B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8371" y="2514450"/>
            <a:ext cx="762000" cy="1588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6" name="AutoShape 28">
            <a:extLst>
              <a:ext uri="{FF2B5EF4-FFF2-40B4-BE49-F238E27FC236}">
                <a16:creationId xmlns:a16="http://schemas.microsoft.com/office/drawing/2014/main" id="{C5B11015-51B9-C6A7-E774-AE3FEC8B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571" y="3886050"/>
            <a:ext cx="1371600" cy="63341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47" name="Group 29">
            <a:extLst>
              <a:ext uri="{FF2B5EF4-FFF2-40B4-BE49-F238E27FC236}">
                <a16:creationId xmlns:a16="http://schemas.microsoft.com/office/drawing/2014/main" id="{9DA51855-DA5C-F91E-4098-76C4158C5505}"/>
              </a:ext>
            </a:extLst>
          </p:cNvPr>
          <p:cNvGrpSpPr>
            <a:grpSpLocks/>
          </p:cNvGrpSpPr>
          <p:nvPr/>
        </p:nvGrpSpPr>
        <p:grpSpPr bwMode="auto">
          <a:xfrm>
            <a:off x="8390871" y="4014638"/>
            <a:ext cx="1144588" cy="304800"/>
            <a:chOff x="3720" y="2337"/>
            <a:chExt cx="721" cy="192"/>
          </a:xfrm>
        </p:grpSpPr>
        <p:sp>
          <p:nvSpPr>
            <p:cNvPr id="48" name="AutoShape 30">
              <a:extLst>
                <a:ext uri="{FF2B5EF4-FFF2-40B4-BE49-F238E27FC236}">
                  <a16:creationId xmlns:a16="http://schemas.microsoft.com/office/drawing/2014/main" id="{FF32122D-1241-3D9D-AC61-2987BE0BA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2371"/>
              <a:ext cx="721" cy="124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49" name="Text Box 31">
              <a:extLst>
                <a:ext uri="{FF2B5EF4-FFF2-40B4-BE49-F238E27FC236}">
                  <a16:creationId xmlns:a16="http://schemas.microsoft.com/office/drawing/2014/main" id="{DBF2E8EE-270A-C8D7-69EA-328FEBF7E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2337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realiza</a:t>
              </a:r>
            </a:p>
          </p:txBody>
        </p:sp>
      </p:grpSp>
      <p:sp>
        <p:nvSpPr>
          <p:cNvPr id="50" name="AutoShape 32">
            <a:extLst>
              <a:ext uri="{FF2B5EF4-FFF2-40B4-BE49-F238E27FC236}">
                <a16:creationId xmlns:a16="http://schemas.microsoft.com/office/drawing/2014/main" id="{165FB6C6-462B-ACD8-FB8D-B61C45ED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721" y="4957613"/>
            <a:ext cx="1416050" cy="576262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51" name="Group 33">
            <a:extLst>
              <a:ext uri="{FF2B5EF4-FFF2-40B4-BE49-F238E27FC236}">
                <a16:creationId xmlns:a16="http://schemas.microsoft.com/office/drawing/2014/main" id="{5EA2E0CB-BBDF-4E7A-895C-C5CDC0043A00}"/>
              </a:ext>
            </a:extLst>
          </p:cNvPr>
          <p:cNvGrpSpPr>
            <a:grpSpLocks/>
          </p:cNvGrpSpPr>
          <p:nvPr/>
        </p:nvGrpSpPr>
        <p:grpSpPr bwMode="auto">
          <a:xfrm>
            <a:off x="4033184" y="5095725"/>
            <a:ext cx="1144587" cy="304800"/>
            <a:chOff x="975" y="3018"/>
            <a:chExt cx="721" cy="192"/>
          </a:xfrm>
        </p:grpSpPr>
        <p:sp>
          <p:nvSpPr>
            <p:cNvPr id="52" name="AutoShape 34">
              <a:extLst>
                <a:ext uri="{FF2B5EF4-FFF2-40B4-BE49-F238E27FC236}">
                  <a16:creationId xmlns:a16="http://schemas.microsoft.com/office/drawing/2014/main" id="{160A3DC8-8A13-3453-B4BC-6E7FF99D6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052"/>
              <a:ext cx="721" cy="126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53" name="Text Box 35">
              <a:extLst>
                <a:ext uri="{FF2B5EF4-FFF2-40B4-BE49-F238E27FC236}">
                  <a16:creationId xmlns:a16="http://schemas.microsoft.com/office/drawing/2014/main" id="{D337047A-2D7C-274F-E367-9B9BE4DFB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018"/>
              <a:ext cx="72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participa</a:t>
              </a:r>
            </a:p>
          </p:txBody>
        </p:sp>
      </p:grpSp>
      <p:sp>
        <p:nvSpPr>
          <p:cNvPr id="54" name="Rectangle 36">
            <a:extLst>
              <a:ext uri="{FF2B5EF4-FFF2-40B4-BE49-F238E27FC236}">
                <a16:creationId xmlns:a16="http://schemas.microsoft.com/office/drawing/2014/main" id="{B487F340-D4BC-8935-AA55-A87FDAAF4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571" y="4914750"/>
            <a:ext cx="1447800" cy="1066800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5" name="Text Box 37">
            <a:extLst>
              <a:ext uri="{FF2B5EF4-FFF2-40B4-BE49-F238E27FC236}">
                <a16:creationId xmlns:a16="http://schemas.microsoft.com/office/drawing/2014/main" id="{8B297632-B64B-474B-B776-3F5088379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571" y="4900463"/>
            <a:ext cx="14478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Proyecto</a:t>
            </a:r>
          </a:p>
        </p:txBody>
      </p:sp>
      <p:sp>
        <p:nvSpPr>
          <p:cNvPr id="56" name="Line 38">
            <a:extLst>
              <a:ext uri="{FF2B5EF4-FFF2-40B4-BE49-F238E27FC236}">
                <a16:creationId xmlns:a16="http://schemas.microsoft.com/office/drawing/2014/main" id="{986C7806-2615-6005-3B46-7F429F439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6571" y="5206850"/>
            <a:ext cx="1447800" cy="3175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7" name="Text Box 39">
            <a:extLst>
              <a:ext uri="{FF2B5EF4-FFF2-40B4-BE49-F238E27FC236}">
                <a16:creationId xmlns:a16="http://schemas.microsoft.com/office/drawing/2014/main" id="{03DCB7D1-EA59-364C-41B4-E2F1813F4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8484" y="5283050"/>
            <a:ext cx="12192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nroProyecto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GB" sz="1200" b="1">
                <a:solidFill>
                  <a:srgbClr val="0000FF"/>
                </a:solidFill>
                <a:latin typeface="Arial" panose="020B0604020202020204" pitchFamily="34" charset="0"/>
              </a:rPr>
              <a:t>nombrePry</a:t>
            </a:r>
          </a:p>
        </p:txBody>
      </p:sp>
      <p:sp>
        <p:nvSpPr>
          <p:cNvPr id="58" name="Line 40">
            <a:extLst>
              <a:ext uri="{FF2B5EF4-FFF2-40B4-BE49-F238E27FC236}">
                <a16:creationId xmlns:a16="http://schemas.microsoft.com/office/drawing/2014/main" id="{E527666D-FEBA-9B4D-5D44-C083BE2BF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9446" y="4020988"/>
            <a:ext cx="1588" cy="8651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9" name="Line 41">
            <a:extLst>
              <a:ext uri="{FF2B5EF4-FFF2-40B4-BE49-F238E27FC236}">
                <a16:creationId xmlns:a16="http://schemas.microsoft.com/office/drawing/2014/main" id="{6C1DF50C-4049-198A-314A-3D9AB9BF4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046" y="5246538"/>
            <a:ext cx="2808288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0" name="Line 42">
            <a:extLst>
              <a:ext uri="{FF2B5EF4-FFF2-40B4-BE49-F238E27FC236}">
                <a16:creationId xmlns:a16="http://schemas.microsoft.com/office/drawing/2014/main" id="{BB9CCCC5-A914-9240-23F1-CA17044F7F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62371" y="4519463"/>
            <a:ext cx="0" cy="355600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1" name="Line 43">
            <a:extLst>
              <a:ext uri="{FF2B5EF4-FFF2-40B4-BE49-F238E27FC236}">
                <a16:creationId xmlns:a16="http://schemas.microsoft.com/office/drawing/2014/main" id="{37D7ACC6-A8ED-B614-4B0D-8E1E6E94F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2371" y="3505050"/>
            <a:ext cx="1588" cy="381000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2" name="Oval 47">
            <a:extLst>
              <a:ext uri="{FF2B5EF4-FFF2-40B4-BE49-F238E27FC236}">
                <a16:creationId xmlns:a16="http://schemas.microsoft.com/office/drawing/2014/main" id="{10D7039E-1B22-BE86-C60C-54766FE8B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746" y="5894238"/>
            <a:ext cx="1371600" cy="4572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63" name="Text Box 48">
            <a:extLst>
              <a:ext uri="{FF2B5EF4-FFF2-40B4-BE49-F238E27FC236}">
                <a16:creationId xmlns:a16="http://schemas.microsoft.com/office/drawing/2014/main" id="{E5BC4C30-70E4-9E50-D851-0EEFEE7DA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946" y="5970438"/>
            <a:ext cx="127793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tiempoAsignado</a:t>
            </a:r>
          </a:p>
        </p:txBody>
      </p:sp>
      <p:sp>
        <p:nvSpPr>
          <p:cNvPr id="64" name="Line 49">
            <a:extLst>
              <a:ext uri="{FF2B5EF4-FFF2-40B4-BE49-F238E27FC236}">
                <a16:creationId xmlns:a16="http://schemas.microsoft.com/office/drawing/2014/main" id="{CA9D2B10-5F83-1568-9727-5B8A00F2F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9446" y="5605313"/>
            <a:ext cx="1588" cy="288925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5" name="AutoShape 50">
            <a:extLst>
              <a:ext uri="{FF2B5EF4-FFF2-40B4-BE49-F238E27FC236}">
                <a16:creationId xmlns:a16="http://schemas.microsoft.com/office/drawing/2014/main" id="{72E45E37-9048-89A5-55DA-334232039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259" y="4886175"/>
            <a:ext cx="1728787" cy="719138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735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Si no se puede representar una relación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N:M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se pueden utilizar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relaciones </a:t>
            </a:r>
            <a:r>
              <a:rPr lang="es-E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C3128C-DF94-7A3C-DDC6-8DF4D98AE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097" y="3011338"/>
            <a:ext cx="1143000" cy="576262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AE71725-DCD0-DA8F-2C48-C8AC45D28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972" y="3155800"/>
            <a:ext cx="8382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3EF1F1BE-F6ED-E60F-5EE8-53B801B82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0035" y="3300263"/>
            <a:ext cx="1081087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E944738A-D073-D7DE-E553-90B393BDD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997" y="2939900"/>
            <a:ext cx="1441450" cy="719138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828712A1-051C-AF75-9F59-BFD6E4FFEB67}"/>
              </a:ext>
            </a:extLst>
          </p:cNvPr>
          <p:cNvGrpSpPr>
            <a:grpSpLocks/>
          </p:cNvGrpSpPr>
          <p:nvPr/>
        </p:nvGrpSpPr>
        <p:grpSpPr bwMode="auto">
          <a:xfrm>
            <a:off x="6178460" y="3149450"/>
            <a:ext cx="1144587" cy="304800"/>
            <a:chOff x="2653" y="1930"/>
            <a:chExt cx="721" cy="192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2A5DB142-E35F-8685-C5E0-83D5C748C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966"/>
              <a:ext cx="721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C50F2A1A-8FAE-01A9-7A25-FB86C9BE8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930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compra</a:t>
              </a:r>
            </a:p>
          </p:txBody>
        </p:sp>
      </p:grpSp>
      <p:sp>
        <p:nvSpPr>
          <p:cNvPr id="12" name="Line 10">
            <a:extLst>
              <a:ext uri="{FF2B5EF4-FFF2-40B4-BE49-F238E27FC236}">
                <a16:creationId xmlns:a16="http://schemas.microsoft.com/office/drawing/2014/main" id="{FFE69387-EE7C-10A2-B1BA-4A8192E32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8322" y="3300263"/>
            <a:ext cx="987425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1080B34-ED9F-1156-F0EA-A0DE4297E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6385" y="3011338"/>
            <a:ext cx="1447800" cy="576262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7988580F-25CE-B1E9-46F6-8C7DBFECC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6385" y="3157388"/>
            <a:ext cx="14478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Producto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560E40FF-38A5-3B78-2C53-E703274F8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985" y="2147738"/>
            <a:ext cx="838200" cy="431800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0153565C-C398-83AC-54ED-758E057E8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385" y="2219175"/>
            <a:ext cx="5556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fecha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FC6D71AA-162B-FD63-C9A2-506C4EE814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4722" y="2585888"/>
            <a:ext cx="0" cy="293687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67C10626-329A-9756-8F1C-0C0EB828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035" y="5098900"/>
            <a:ext cx="990600" cy="574675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3F0267C-4F4A-1D25-E9C0-A63133AD9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522" y="5208438"/>
            <a:ext cx="9144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Cliente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985DBAF5-21DC-ACF5-533D-FA8494D76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9097" y="5386238"/>
            <a:ext cx="503238" cy="1587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1427F38-C821-FEF4-B8CF-368A1E729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335" y="5098900"/>
            <a:ext cx="1181100" cy="576263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5013774-4A78-E258-5BC9-5C9FE7E8CE3B}"/>
              </a:ext>
            </a:extLst>
          </p:cNvPr>
          <p:cNvGrpSpPr>
            <a:grpSpLocks/>
          </p:cNvGrpSpPr>
          <p:nvPr/>
        </p:nvGrpSpPr>
        <p:grpSpPr bwMode="auto">
          <a:xfrm>
            <a:off x="4276635" y="5222725"/>
            <a:ext cx="906462" cy="304800"/>
            <a:chOff x="1455" y="3236"/>
            <a:chExt cx="571" cy="192"/>
          </a:xfrm>
        </p:grpSpPr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43DD3F2E-FB40-262C-B478-3AA6F933B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272"/>
              <a:ext cx="571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E8F911B8-B851-BF5D-77C7-9875AD68E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" y="3236"/>
              <a:ext cx="5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realiza</a:t>
              </a:r>
            </a:p>
          </p:txBody>
        </p:sp>
      </p:grpSp>
      <p:sp>
        <p:nvSpPr>
          <p:cNvPr id="25" name="Line 25">
            <a:extLst>
              <a:ext uri="{FF2B5EF4-FFF2-40B4-BE49-F238E27FC236}">
                <a16:creationId xmlns:a16="http://schemas.microsoft.com/office/drawing/2014/main" id="{97CD90F8-4DFA-91C8-FDE7-5AF37E71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0847" y="5386238"/>
            <a:ext cx="647700" cy="1587"/>
          </a:xfrm>
          <a:prstGeom prst="line">
            <a:avLst/>
          </a:prstGeom>
          <a:noFill/>
          <a:ln w="57150" cap="sq" cmpd="dbl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6" name="Rectangle 28">
            <a:extLst>
              <a:ext uri="{FF2B5EF4-FFF2-40B4-BE49-F238E27FC236}">
                <a16:creationId xmlns:a16="http://schemas.microsoft.com/office/drawing/2014/main" id="{34A91DC8-8942-B976-F63A-44B78B3A8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8547" y="5098900"/>
            <a:ext cx="1143000" cy="576263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67" name="Text Box 29">
            <a:extLst>
              <a:ext uri="{FF2B5EF4-FFF2-40B4-BE49-F238E27FC236}">
                <a16:creationId xmlns:a16="http://schemas.microsoft.com/office/drawing/2014/main" id="{E037DC76-561C-2BC4-003E-7920E8CB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572" y="5241775"/>
            <a:ext cx="9906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Producto</a:t>
            </a:r>
          </a:p>
        </p:txBody>
      </p:sp>
      <p:sp>
        <p:nvSpPr>
          <p:cNvPr id="68" name="AutoShape 30">
            <a:extLst>
              <a:ext uri="{FF2B5EF4-FFF2-40B4-BE49-F238E27FC236}">
                <a16:creationId xmlns:a16="http://schemas.microsoft.com/office/drawing/2014/main" id="{3A0B1DE8-A185-34BE-2C55-34357358D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622" y="5110013"/>
            <a:ext cx="1165225" cy="56515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solidFill>
            <a:srgbClr val="CCFF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69" name="Group 31">
            <a:extLst>
              <a:ext uri="{FF2B5EF4-FFF2-40B4-BE49-F238E27FC236}">
                <a16:creationId xmlns:a16="http://schemas.microsoft.com/office/drawing/2014/main" id="{65740D8F-5BC7-4D4D-E1CA-64AC7E8A123A}"/>
              </a:ext>
            </a:extLst>
          </p:cNvPr>
          <p:cNvGrpSpPr>
            <a:grpSpLocks/>
          </p:cNvGrpSpPr>
          <p:nvPr/>
        </p:nvGrpSpPr>
        <p:grpSpPr bwMode="auto">
          <a:xfrm>
            <a:off x="7719922" y="5233838"/>
            <a:ext cx="868363" cy="304800"/>
            <a:chOff x="3624" y="3243"/>
            <a:chExt cx="547" cy="192"/>
          </a:xfrm>
        </p:grpSpPr>
        <p:sp>
          <p:nvSpPr>
            <p:cNvPr id="70" name="AutoShape 32">
              <a:extLst>
                <a:ext uri="{FF2B5EF4-FFF2-40B4-BE49-F238E27FC236}">
                  <a16:creationId xmlns:a16="http://schemas.microsoft.com/office/drawing/2014/main" id="{3AFA83EF-31A2-946E-C0DB-00BE73927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3279"/>
              <a:ext cx="547" cy="118"/>
            </a:xfrm>
            <a:prstGeom prst="roundRect">
              <a:avLst>
                <a:gd name="adj" fmla="val 81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69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s-CO"/>
            </a:p>
          </p:txBody>
        </p:sp>
        <p:sp>
          <p:nvSpPr>
            <p:cNvPr id="71" name="Text Box 33">
              <a:extLst>
                <a:ext uri="{FF2B5EF4-FFF2-40B4-BE49-F238E27FC236}">
                  <a16:creationId xmlns:a16="http://schemas.microsoft.com/office/drawing/2014/main" id="{F4B67512-F4B7-94F9-B9EF-C1DDC73B7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4" y="3243"/>
              <a:ext cx="5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6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>
                <a:spcBef>
                  <a:spcPts val="5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1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Constantia" panose="02030602050306030303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 eaLnBrk="1" hangingPunct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sz="1400" i="1">
                  <a:latin typeface="Times New Roman" panose="02020603050405020304" pitchFamily="18" charset="0"/>
                </a:rPr>
                <a:t>aparece</a:t>
              </a:r>
            </a:p>
          </p:txBody>
        </p:sp>
      </p:grpSp>
      <p:sp>
        <p:nvSpPr>
          <p:cNvPr id="72" name="Line 34">
            <a:extLst>
              <a:ext uri="{FF2B5EF4-FFF2-40B4-BE49-F238E27FC236}">
                <a16:creationId xmlns:a16="http://schemas.microsoft.com/office/drawing/2014/main" id="{40923DBA-453D-A51F-596C-DE255B05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860" y="5386238"/>
            <a:ext cx="609600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3" name="Rectangle 36">
            <a:extLst>
              <a:ext uri="{FF2B5EF4-FFF2-40B4-BE49-F238E27FC236}">
                <a16:creationId xmlns:a16="http://schemas.microsoft.com/office/drawing/2014/main" id="{63AFA1DC-CB09-9335-9E2A-393CDCCB3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222" y="5105250"/>
            <a:ext cx="1041400" cy="568325"/>
          </a:xfrm>
          <a:prstGeom prst="rect">
            <a:avLst/>
          </a:prstGeom>
          <a:solidFill>
            <a:srgbClr val="CCCC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4" name="Text Box 37">
            <a:extLst>
              <a:ext uri="{FF2B5EF4-FFF2-40B4-BE49-F238E27FC236}">
                <a16:creationId xmlns:a16="http://schemas.microsoft.com/office/drawing/2014/main" id="{81C0AE52-A0D5-FE0A-CC92-3244A3E94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560" y="5098900"/>
            <a:ext cx="98583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ts val="875"/>
              </a:spcBef>
              <a:buClrTx/>
              <a:buFontTx/>
              <a:buNone/>
            </a:pPr>
            <a:r>
              <a:rPr lang="en-GB" sz="1400" b="1" i="1">
                <a:latin typeface="Arial" panose="020B0604020202020204" pitchFamily="34" charset="0"/>
              </a:rPr>
              <a:t>Detalle Compra</a:t>
            </a:r>
          </a:p>
        </p:txBody>
      </p:sp>
      <p:sp>
        <p:nvSpPr>
          <p:cNvPr id="75" name="Oval 39">
            <a:extLst>
              <a:ext uri="{FF2B5EF4-FFF2-40B4-BE49-F238E27FC236}">
                <a16:creationId xmlns:a16="http://schemas.microsoft.com/office/drawing/2014/main" id="{F2198937-8F6E-55C4-458C-42B155A5E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422" y="4378175"/>
            <a:ext cx="838200" cy="360363"/>
          </a:xfrm>
          <a:prstGeom prst="ellips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9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CO"/>
          </a:p>
        </p:txBody>
      </p:sp>
      <p:sp>
        <p:nvSpPr>
          <p:cNvPr id="76" name="Text Box 40">
            <a:extLst>
              <a:ext uri="{FF2B5EF4-FFF2-40B4-BE49-F238E27FC236}">
                <a16:creationId xmlns:a16="http://schemas.microsoft.com/office/drawing/2014/main" id="{A255AB00-2D17-95E7-9266-7B7D9FB2B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410" y="4419450"/>
            <a:ext cx="5556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200">
                <a:latin typeface="Arial" panose="020B0604020202020204" pitchFamily="34" charset="0"/>
              </a:rPr>
              <a:t>fecha</a:t>
            </a:r>
          </a:p>
        </p:txBody>
      </p:sp>
      <p:sp>
        <p:nvSpPr>
          <p:cNvPr id="77" name="Line 41">
            <a:extLst>
              <a:ext uri="{FF2B5EF4-FFF2-40B4-BE49-F238E27FC236}">
                <a16:creationId xmlns:a16="http://schemas.microsoft.com/office/drawing/2014/main" id="{9BCDA06E-4EC9-2467-9505-25838EA598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7385" y="4744888"/>
            <a:ext cx="0" cy="360362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8" name="Line 42">
            <a:extLst>
              <a:ext uri="{FF2B5EF4-FFF2-40B4-BE49-F238E27FC236}">
                <a16:creationId xmlns:a16="http://schemas.microsoft.com/office/drawing/2014/main" id="{F3D64F0A-61B8-BB0A-0281-C75BA5521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0622" y="5386238"/>
            <a:ext cx="647700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9" name="Text Box 43">
            <a:extLst>
              <a:ext uri="{FF2B5EF4-FFF2-40B4-BE49-F238E27FC236}">
                <a16:creationId xmlns:a16="http://schemas.microsoft.com/office/drawing/2014/main" id="{18C8DA48-2146-D857-3643-25930EB16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822" y="4047975"/>
            <a:ext cx="1066800" cy="428625"/>
          </a:xfrm>
          <a:prstGeom prst="rect">
            <a:avLst/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spcBef>
                <a:spcPts val="5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onstantia" panose="0203060205030603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  <a:buClrTx/>
              <a:buFontTx/>
              <a:buNone/>
            </a:pPr>
            <a:r>
              <a:rPr lang="en-GB" sz="2200">
                <a:latin typeface="Arial" panose="020B0604020202020204" pitchFamily="34" charset="0"/>
              </a:rPr>
              <a:t>Por:</a:t>
            </a:r>
          </a:p>
        </p:txBody>
      </p:sp>
      <p:sp>
        <p:nvSpPr>
          <p:cNvPr id="80" name="AutoShape 44">
            <a:extLst>
              <a:ext uri="{FF2B5EF4-FFF2-40B4-BE49-F238E27FC236}">
                <a16:creationId xmlns:a16="http://schemas.microsoft.com/office/drawing/2014/main" id="{DB74D9EB-62D8-E8AF-9C6C-8A0F950E6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122" y="2866875"/>
            <a:ext cx="1728788" cy="863600"/>
          </a:xfrm>
          <a:custGeom>
            <a:avLst/>
            <a:gdLst>
              <a:gd name="T0" fmla="*/ 0 w 5500"/>
              <a:gd name="T1" fmla="*/ 2147483646 h 2023"/>
              <a:gd name="T2" fmla="*/ 2147483646 w 5500"/>
              <a:gd name="T3" fmla="*/ 0 h 2023"/>
              <a:gd name="T4" fmla="*/ 2147483646 w 5500"/>
              <a:gd name="T5" fmla="*/ 2147483646 h 2023"/>
              <a:gd name="T6" fmla="*/ 2147483646 w 5500"/>
              <a:gd name="T7" fmla="*/ 2147483646 h 2023"/>
              <a:gd name="T8" fmla="*/ 0 w 5500"/>
              <a:gd name="T9" fmla="*/ 2147483646 h 20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00"/>
              <a:gd name="T16" fmla="*/ 0 h 2023"/>
              <a:gd name="T17" fmla="*/ 5500 w 5500"/>
              <a:gd name="T18" fmla="*/ 2023 h 20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00" h="2023">
                <a:moveTo>
                  <a:pt x="0" y="1011"/>
                </a:moveTo>
                <a:lnTo>
                  <a:pt x="2749" y="0"/>
                </a:lnTo>
                <a:lnTo>
                  <a:pt x="5499" y="1011"/>
                </a:lnTo>
                <a:lnTo>
                  <a:pt x="2749" y="2022"/>
                </a:lnTo>
                <a:lnTo>
                  <a:pt x="0" y="1011"/>
                </a:ln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2916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284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3000"/>
              </a:lnSpc>
              <a:spcBef>
                <a:spcPts val="650"/>
              </a:spcBef>
              <a:buSzPct val="100000"/>
              <a:defRPr/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Principios de Diseño</a:t>
            </a:r>
          </a:p>
          <a:p>
            <a:pPr marL="266700" indent="-265113" eaLnBrk="1" hangingPunct="1">
              <a:spcBef>
                <a:spcPts val="8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Fidelidad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El diseño debe corresponder fielmente a las especificaciones. </a:t>
            </a:r>
          </a:p>
          <a:p>
            <a:pPr marL="266700" indent="-265113" eaLnBrk="1" hangingPunct="1">
              <a:spcBef>
                <a:spcPts val="8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 Redundancia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Debemos manejar los datos una sola vez. 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perdida de espacio de almacenamiento, inconsistencia por no actualización.</a:t>
            </a:r>
          </a:p>
          <a:p>
            <a:pPr marL="266700" indent="-265113" eaLnBrk="1" hangingPunct="1">
              <a:spcBef>
                <a:spcPts val="8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Simplicidad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debe evitar introducir más elementos de los que son absolutamente necesarios.</a:t>
            </a:r>
          </a:p>
          <a:p>
            <a:pPr marL="266700" indent="-265113" eaLnBrk="1" hangingPunct="1">
              <a:spcBef>
                <a:spcPts val="800"/>
              </a:spcBef>
              <a:buClr>
                <a:srgbClr val="0000CC"/>
              </a:buClr>
              <a:buSzPct val="95000"/>
              <a:buFont typeface="Wingdings" panose="05000000000000000000" pitchFamily="2" charset="2"/>
              <a:buChar char=""/>
              <a:defRPr/>
            </a:pPr>
            <a:r>
              <a:rPr 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Elegir la Clase Correcta</a:t>
            </a:r>
            <a:r>
              <a:rPr 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Una mala escogencia en el tipo de elemento a considerar puede originar molestias.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Entidad Relación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88635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523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 diseño Conceptual permite el análisis de requerimientos.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F6FC6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Se pueden realizar una descripción de los campos de alto nivel de los datos a trabajar.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Los diagramas E-R son muy populares para realizar el diseño conceptual.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F6FC6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Los diagramas son expresivos, cercanos a la forma de pensar de las personas acerca de sus aplicaciones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Las construcciones básicas son: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entidades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relaciones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atributos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(de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entidades y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relaciones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ts val="300"/>
              </a:spcAft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Algunas construcciones adicionales son: 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entidades débiles, jerarquías de herencia, y de agregación.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Conclusiones sobre el Modelo E-R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367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111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</a:pPr>
            <a:r>
              <a:rPr lang="es-CO" sz="2200" dirty="0">
                <a:latin typeface="Arial" panose="020B0604020202020204" pitchFamily="34" charset="0"/>
                <a:cs typeface="Arial" panose="020B0604020202020204" pitchFamily="34" charset="0"/>
              </a:rPr>
              <a:t>En el modelo ER se pueden expresar varios tipos de restricciones de integridad: las llaves, las restricciones de participación, y el cubrimiento para las jerarquías de herencia. Algunas restricciones de llave foránea son implícitas en la definición de la relación. </a:t>
            </a:r>
          </a:p>
          <a:p>
            <a:pPr lvl="1" algn="just" eaLnBrk="1" hangingPunct="1">
              <a:spcAft>
                <a:spcPts val="600"/>
              </a:spcAft>
              <a:buClr>
                <a:srgbClr val="0F6FC6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Algunas restricciones (como las dependencias funcionales) no pueden ser expresadas en el modelo ER.</a:t>
            </a:r>
          </a:p>
          <a:p>
            <a:pPr lvl="1" algn="just" eaLnBrk="1" hangingPunct="1">
              <a:spcAft>
                <a:spcPts val="600"/>
              </a:spcAft>
              <a:buClr>
                <a:srgbClr val="0F6FC6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Las restricciones juegan un papel importante en la definición del mejor diseño de la base de datos para la empresa.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  <a:defRPr/>
            </a:pPr>
            <a:r>
              <a:rPr lang="es-CO" sz="2200" dirty="0">
                <a:latin typeface="Arial" panose="020B0604020202020204" pitchFamily="34" charset="0"/>
                <a:cs typeface="Arial" panose="020B0604020202020204" pitchFamily="34" charset="0"/>
              </a:rPr>
              <a:t>El diseño ER es subjetivo. ¡A menudo hay muchas formas de modelar un escenario dado! Analizando las alternativas, algunas pueden ser engañosas, sobre todo para una empresa grande.</a:t>
            </a:r>
          </a:p>
          <a:p>
            <a:pPr marL="271463" algn="just" eaLnBrk="1" hangingPunct="1">
              <a:lnSpc>
                <a:spcPct val="90000"/>
              </a:lnSpc>
              <a:spcBef>
                <a:spcPts val="500"/>
              </a:spcBef>
              <a:buSzPct val="100000"/>
              <a:defRPr/>
            </a:pPr>
            <a:endParaRPr lang="es-CO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SzPct val="95000"/>
              <a:buFont typeface="Wingdings 2" panose="05020102010507070707" pitchFamily="18" charset="2"/>
              <a:buChar char=""/>
              <a:defRPr/>
            </a:pPr>
            <a:r>
              <a:rPr lang="es-CO" sz="2200" dirty="0">
                <a:latin typeface="Arial" panose="020B0604020202020204" pitchFamily="34" charset="0"/>
                <a:cs typeface="Arial" panose="020B0604020202020204" pitchFamily="34" charset="0"/>
              </a:rPr>
              <a:t>Un buen diseño de una base de datos se asegura: analizando y refinando el esquema relacional resultante. La información de las dependencias funcionales y las técnicas de normalización son especialmente útiles.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B3BC51-1413-F46C-B9D5-F37ECB4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Conclusiones sobre el Modelo E-R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09D67D3-827B-686D-F8C3-BCC27C36F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959525" cy="39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2678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423358"/>
          </a:xfrm>
        </p:spPr>
        <p:txBody>
          <a:bodyPr/>
          <a:lstStyle/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¿Se Cumplieron los Objetivos?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4" y="1792700"/>
            <a:ext cx="9516534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Describir las principales características de un modelo de datos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Explicar la importancia de la modelización conceptual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componentes básicos del modelo E-R</a:t>
            </a: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principales tipos de cardinalidad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generalización y especialización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agregación  y descomposición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Diseñar un modelo de datos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Construir un esquema relacional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Transformar un diagrama E-R en un esquema relacional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8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633</TotalTime>
  <Words>2771</Words>
  <Application>Microsoft Office PowerPoint</Application>
  <PresentationFormat>Panorámica</PresentationFormat>
  <Paragraphs>420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39</vt:i4>
      </vt:variant>
    </vt:vector>
  </HeadingPairs>
  <TitlesOfParts>
    <vt:vector size="52" baseType="lpstr">
      <vt:lpstr>AntigoniBd</vt:lpstr>
      <vt:lpstr>Arial</vt:lpstr>
      <vt:lpstr>Calibri</vt:lpstr>
      <vt:lpstr>Comic Sans MS</vt:lpstr>
      <vt:lpstr>Edwardian Script ITC</vt:lpstr>
      <vt:lpstr>Times New Roman</vt:lpstr>
      <vt:lpstr>Wingdings</vt:lpstr>
      <vt:lpstr>Wingdings 2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Objetivos de Aprendizaje</vt:lpstr>
      <vt:lpstr>Modelaje de bases de datos</vt:lpstr>
      <vt:lpstr>Modelaje de bases de datos</vt:lpstr>
      <vt:lpstr>Modelaje de bases de datos</vt:lpstr>
      <vt:lpstr>Modelaje de bases de datos</vt:lpstr>
      <vt:lpstr>Modelaje de bases de datos</vt:lpstr>
      <vt:lpstr>Modelaje de bases de datos</vt:lpstr>
      <vt:lpstr>Modelaje de bases de datos</vt:lpstr>
      <vt:lpstr>Modelaje de bases de datos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Modelo Entidad Relación</vt:lpstr>
      <vt:lpstr>Conclusiones sobre el Modelo E-R</vt:lpstr>
      <vt:lpstr>Conclusiones sobre el Modelo E-R</vt:lpstr>
      <vt:lpstr>¿Se Cumplieron los Objetivos?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2024-02-20T19:23:17Z</dcterms:modified>
</cp:coreProperties>
</file>